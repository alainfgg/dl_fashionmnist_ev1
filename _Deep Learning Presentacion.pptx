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RQND Pro UltraWide" charset="1" panose="00000500000000000000"/>
      <p:regular r:id="rId19"/>
    </p:embeddedFont>
    <p:embeddedFont>
      <p:font typeface="Telegraf" charset="1" panose="00000500000000000000"/>
      <p:regular r:id="rId20"/>
    </p:embeddedFont>
    <p:embeddedFont>
      <p:font typeface="Telegraf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embeddings/oleObject2.bin" Type="http://schemas.openxmlformats.org/officeDocument/2006/relationships/oleObject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embeddings/oleObject3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3.png" Type="http://schemas.openxmlformats.org/officeDocument/2006/relationships/image"/><Relationship Id="rId4" Target="../embeddings/oleObject4.bin" Type="http://schemas.openxmlformats.org/officeDocument/2006/relationships/oleObject"/><Relationship Id="rId5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embeddings/oleObject5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0.jpeg" Type="http://schemas.openxmlformats.org/officeDocument/2006/relationships/image"/><Relationship Id="rId4" Target="../media/image21.jpeg" Type="http://schemas.openxmlformats.org/officeDocument/2006/relationships/image"/><Relationship Id="rId5" Target="../media/image2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9124" y="1786391"/>
            <a:ext cx="16269752" cy="4225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Clasificación Multiclase en Fashion MNIST con MLP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5572" y="8055294"/>
            <a:ext cx="7937466" cy="1709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0"/>
              </a:lnSpc>
            </a:pPr>
            <a:r>
              <a:rPr lang="en-US" sz="2450" spc="1428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Integrantes:</a:t>
            </a:r>
          </a:p>
          <a:p>
            <a:pPr algn="l" marL="529098" indent="-264549" lvl="1">
              <a:lnSpc>
                <a:spcPts val="3430"/>
              </a:lnSpc>
              <a:buFont typeface="Arial"/>
              <a:buChar char="•"/>
            </a:pPr>
            <a:r>
              <a:rPr lang="en-US" sz="2450" spc="1428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Gabriel González, </a:t>
            </a:r>
          </a:p>
          <a:p>
            <a:pPr algn="l" marL="529098" indent="-264549" lvl="1">
              <a:lnSpc>
                <a:spcPts val="3430"/>
              </a:lnSpc>
              <a:buFont typeface="Arial"/>
              <a:buChar char="•"/>
            </a:pPr>
            <a:r>
              <a:rPr lang="en-US" sz="2450" spc="1428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Sebastián Cornejo, </a:t>
            </a:r>
          </a:p>
          <a:p>
            <a:pPr algn="l" marL="529098" indent="-264549" lvl="1">
              <a:lnSpc>
                <a:spcPts val="3430"/>
              </a:lnSpc>
              <a:buFont typeface="Arial"/>
              <a:buChar char="•"/>
            </a:pPr>
            <a:r>
              <a:rPr lang="en-US" sz="2450" spc="1428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Alain González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78869" y="1552403"/>
            <a:ext cx="8010452" cy="4033684"/>
            <a:chOff x="0" y="0"/>
            <a:chExt cx="3318079" cy="16708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18079" cy="1670827"/>
            </a:xfrm>
            <a:custGeom>
              <a:avLst/>
              <a:gdLst/>
              <a:ahLst/>
              <a:cxnLst/>
              <a:rect r="r" b="b" t="t" l="l"/>
              <a:pathLst>
                <a:path h="1670827" w="3318079">
                  <a:moveTo>
                    <a:pt x="3158059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510807"/>
                  </a:lnTo>
                  <a:lnTo>
                    <a:pt x="160020" y="1670827"/>
                  </a:lnTo>
                  <a:lnTo>
                    <a:pt x="3158059" y="1670827"/>
                  </a:lnTo>
                  <a:lnTo>
                    <a:pt x="3318079" y="1510807"/>
                  </a:lnTo>
                  <a:lnTo>
                    <a:pt x="3318079" y="160020"/>
                  </a:lnTo>
                  <a:lnTo>
                    <a:pt x="3158059" y="0"/>
                  </a:lnTo>
                  <a:close/>
                </a:path>
              </a:pathLst>
            </a:custGeom>
            <a:ln w="9525" cap="sq">
              <a:solidFill>
                <a:srgbClr val="DEF0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63500" y="6350"/>
              <a:ext cx="3191079" cy="1600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41977" y="5741482"/>
            <a:ext cx="10271543" cy="4201637"/>
          </a:xfrm>
          <a:custGeom>
            <a:avLst/>
            <a:gdLst/>
            <a:ahLst/>
            <a:cxnLst/>
            <a:rect r="r" b="b" t="t" l="l"/>
            <a:pathLst>
              <a:path h="4201637" w="10271543">
                <a:moveTo>
                  <a:pt x="0" y="0"/>
                </a:moveTo>
                <a:lnTo>
                  <a:pt x="10271544" y="0"/>
                </a:lnTo>
                <a:lnTo>
                  <a:pt x="10271544" y="4201637"/>
                </a:lnTo>
                <a:lnTo>
                  <a:pt x="0" y="42016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7232" y="1730199"/>
            <a:ext cx="10320894" cy="103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6"/>
              </a:lnSpc>
            </a:pPr>
            <a:r>
              <a:rPr lang="en-US" sz="8769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Introducción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03926" y="2241889"/>
            <a:ext cx="6960339" cy="421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3600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Problema: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22378" y="3108055"/>
            <a:ext cx="7323434" cy="113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spc="-128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Clasificar 10 categorías de prendas de vestir (28 x 28 píxeles en escala de grises)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02267" y="4933313"/>
            <a:ext cx="6093836" cy="4832430"/>
          </a:xfrm>
          <a:custGeom>
            <a:avLst/>
            <a:gdLst/>
            <a:ahLst/>
            <a:cxnLst/>
            <a:rect r="r" b="b" t="t" l="l"/>
            <a:pathLst>
              <a:path h="4832430" w="6093836">
                <a:moveTo>
                  <a:pt x="0" y="0"/>
                </a:moveTo>
                <a:lnTo>
                  <a:pt x="6093837" y="0"/>
                </a:lnTo>
                <a:lnTo>
                  <a:pt x="6093837" y="4832430"/>
                </a:lnTo>
                <a:lnTo>
                  <a:pt x="0" y="48324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3710" y="5026114"/>
            <a:ext cx="5547844" cy="4232186"/>
          </a:xfrm>
          <a:custGeom>
            <a:avLst/>
            <a:gdLst/>
            <a:ahLst/>
            <a:cxnLst/>
            <a:rect r="r" b="b" t="t" l="l"/>
            <a:pathLst>
              <a:path h="4232186" w="5547844">
                <a:moveTo>
                  <a:pt x="0" y="0"/>
                </a:moveTo>
                <a:lnTo>
                  <a:pt x="5547843" y="0"/>
                </a:lnTo>
                <a:lnTo>
                  <a:pt x="5547843" y="4232186"/>
                </a:lnTo>
                <a:lnTo>
                  <a:pt x="0" y="42321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03710" y="1219200"/>
            <a:ext cx="9120608" cy="1238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6"/>
              </a:lnSpc>
            </a:pPr>
            <a:r>
              <a:rPr lang="en-US" sz="5531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Preprocesamiento y Arquitectura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3710" y="3008354"/>
            <a:ext cx="5849736" cy="36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3200" spc="96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Normalización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24318" y="2901197"/>
            <a:ext cx="5849736" cy="36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3200" spc="96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Arquitectura BASE: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02267" y="3241828"/>
            <a:ext cx="5205645" cy="1691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96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Capa Flatten (784)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96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Oc</a:t>
            </a:r>
            <a:r>
              <a:rPr lang="en-US" sz="2400" spc="-96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ulta 1 (256)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96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Oculta 2 (128)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96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Salida Softmax (10).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764" y="3735655"/>
            <a:ext cx="5849736" cy="85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96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(/255.0) y</a:t>
            </a:r>
            <a:r>
              <a:rPr lang="en-US" sz="2400" spc="-96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 Split de datos (10.000 validación, 10,000 test)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2185" y="5012401"/>
            <a:ext cx="10278128" cy="4245899"/>
          </a:xfrm>
          <a:custGeom>
            <a:avLst/>
            <a:gdLst/>
            <a:ahLst/>
            <a:cxnLst/>
            <a:rect r="r" b="b" t="t" l="l"/>
            <a:pathLst>
              <a:path h="4245899" w="10278128">
                <a:moveTo>
                  <a:pt x="0" y="0"/>
                </a:moveTo>
                <a:lnTo>
                  <a:pt x="10278128" y="0"/>
                </a:lnTo>
                <a:lnTo>
                  <a:pt x="10278128" y="4245899"/>
                </a:lnTo>
                <a:lnTo>
                  <a:pt x="0" y="42458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4" id="4"/>
          <p:cNvGraphicFramePr/>
          <p:nvPr/>
        </p:nvGraphicFramePr>
        <p:xfrm>
          <a:off x="12380167" y="5489963"/>
          <a:ext cx="7543800" cy="2514600"/>
        </p:xfrm>
        <a:graphic>
          <a:graphicData uri="http://schemas.openxmlformats.org/presentationml/2006/ole">
            <p:oleObj imgW="9042400" imgH="4013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517411" y="1238250"/>
            <a:ext cx="13055666" cy="1435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6"/>
              </a:lnSpc>
            </a:pPr>
            <a:r>
              <a:rPr lang="en-US" sz="6400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Experimento 1: Funciones de Activación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7411" y="2734848"/>
            <a:ext cx="15871351" cy="1691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96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Comparativa entre ReLU, Tanh y Sigmoide.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96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Diagnóstico a 15 épocas: ReLU logra mayor accuracy (~87%), pero su curva de pérdida sube a %38. Tanh y Sigmoide son más estables pero convergen lento. Rendimientos similares entre las 3 por cantidad de épocas.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2894520" y="5143500"/>
          <a:ext cx="7543800" cy="2514600"/>
        </p:xfrm>
        <a:graphic>
          <a:graphicData uri="http://schemas.openxmlformats.org/presentationml/2006/ole">
            <p:oleObj imgW="9042400" imgH="4013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1028700" y="5030383"/>
            <a:ext cx="9971734" cy="4112145"/>
          </a:xfrm>
          <a:custGeom>
            <a:avLst/>
            <a:gdLst/>
            <a:ahLst/>
            <a:cxnLst/>
            <a:rect r="r" b="b" t="t" l="l"/>
            <a:pathLst>
              <a:path h="4112145" w="9971734">
                <a:moveTo>
                  <a:pt x="0" y="0"/>
                </a:moveTo>
                <a:lnTo>
                  <a:pt x="9971734" y="0"/>
                </a:lnTo>
                <a:lnTo>
                  <a:pt x="9971734" y="4112144"/>
                </a:lnTo>
                <a:lnTo>
                  <a:pt x="0" y="41121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7411" y="1238250"/>
            <a:ext cx="13055666" cy="143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6"/>
              </a:lnSpc>
            </a:pPr>
            <a:r>
              <a:rPr lang="en-US" sz="6400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Experimento 1.1: Funciones de Activación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7411" y="2734848"/>
            <a:ext cx="14060398" cy="1691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96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Comparativa entre ReLU, Tanh y Sigmoide.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96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Diagnóstico a 30 épocas: ReLU logra mayor accuracy (~88.22%), pero su curva de pérdida sube a 0.5396 por overfitting. Tanh y Sigmoide son más estables pero convergen lento.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64916"/>
            <a:ext cx="10643857" cy="4396982"/>
          </a:xfrm>
          <a:custGeom>
            <a:avLst/>
            <a:gdLst/>
            <a:ahLst/>
            <a:cxnLst/>
            <a:rect r="r" b="b" t="t" l="l"/>
            <a:pathLst>
              <a:path h="4396982" w="10643857">
                <a:moveTo>
                  <a:pt x="0" y="0"/>
                </a:moveTo>
                <a:lnTo>
                  <a:pt x="10643857" y="0"/>
                </a:lnTo>
                <a:lnTo>
                  <a:pt x="10643857" y="4396982"/>
                </a:lnTo>
                <a:lnTo>
                  <a:pt x="0" y="43969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2080127" y="6000762"/>
          <a:ext cx="7543800" cy="1885950"/>
        </p:xfrm>
        <a:graphic>
          <a:graphicData uri="http://schemas.openxmlformats.org/presentationml/2006/ole">
            <p:oleObj imgW="9042400" imgH="33909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28700" y="1238250"/>
            <a:ext cx="14709048" cy="1428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4"/>
              </a:lnSpc>
            </a:pPr>
            <a:r>
              <a:rPr lang="en-US" sz="6338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Experimento 2: Función de pérdida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99603"/>
            <a:ext cx="16364274" cy="3135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-88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Comparativa entre </a:t>
            </a:r>
            <a:r>
              <a:rPr lang="en-US" sz="2200" spc="-88" b="true">
                <a:solidFill>
                  <a:srgbClr val="DEF0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Categorical Crossentropy </a:t>
            </a:r>
            <a:r>
              <a:rPr lang="en-US" sz="2200" spc="-88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y </a:t>
            </a:r>
            <a:r>
              <a:rPr lang="en-US" sz="2200" spc="-88" b="true">
                <a:solidFill>
                  <a:srgbClr val="DEF0FF"/>
                </a:solidFill>
                <a:latin typeface="Telegraf Bold"/>
                <a:ea typeface="Telegraf Bold"/>
                <a:cs typeface="Telegraf Bold"/>
                <a:sym typeface="Telegraf Bold"/>
              </a:rPr>
              <a:t>MSE (Error Cuadrático Medio)</a:t>
            </a:r>
          </a:p>
          <a:p>
            <a:pPr algn="l">
              <a:lnSpc>
                <a:spcPts val="3080"/>
              </a:lnSpc>
            </a:pP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pc="-88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Diagnóstico a 15 épocas:  </a:t>
            </a:r>
            <a:r>
              <a:rPr lang="en-US" b="true" sz="2200" spc="-88">
                <a:solidFill>
                  <a:srgbClr val="DEF0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Crossentropy </a:t>
            </a:r>
            <a:r>
              <a:rPr lang="en-US" sz="2200" spc="-88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alcanza rápidamente una mayor precisión (~88-89%) con una curva de aprendizaje suave, pero en pérdida se mantiene muy por encima. MSE presenta una convergencia más lenta y menor precisión final (~86%), debido a la  saturación en la capa Softmax.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 spc="-88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Escogida: </a:t>
            </a:r>
            <a:r>
              <a:rPr lang="en-US" b="true" sz="2200" spc="-88">
                <a:solidFill>
                  <a:srgbClr val="DEF0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Categorical Crossentropy.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5385" y="4912372"/>
            <a:ext cx="12462362" cy="4727103"/>
          </a:xfrm>
          <a:custGeom>
            <a:avLst/>
            <a:gdLst/>
            <a:ahLst/>
            <a:cxnLst/>
            <a:rect r="r" b="b" t="t" l="l"/>
            <a:pathLst>
              <a:path h="4727103" w="12462362">
                <a:moveTo>
                  <a:pt x="0" y="0"/>
                </a:moveTo>
                <a:lnTo>
                  <a:pt x="12462362" y="0"/>
                </a:lnTo>
                <a:lnTo>
                  <a:pt x="12462362" y="4727103"/>
                </a:lnTo>
                <a:lnTo>
                  <a:pt x="0" y="47271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9998" y="1418892"/>
            <a:ext cx="14450642" cy="143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5"/>
              </a:lnSpc>
            </a:pPr>
            <a:r>
              <a:rPr lang="en-US" sz="6399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Experimento 3: Regularización (Dropout)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9998" y="3254785"/>
            <a:ext cx="14988986" cy="1691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96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Sin Dropout: La pérdida de entrenamiento baja a 0.13 mientras la de validación sube a 0.48 aprox. (brecha de sobreajuste).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96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Con Dropout(0.3): Ambas curvas se acoplan y la pérdida en validación se estabiliza en torno a 0.31.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2423029" y="4376825"/>
          <a:ext cx="7543800" cy="2514600"/>
        </p:xfrm>
        <a:graphic>
          <a:graphicData uri="http://schemas.openxmlformats.org/presentationml/2006/ole">
            <p:oleObj imgW="9042400" imgH="4013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1107017" y="4973328"/>
            <a:ext cx="10103113" cy="4206666"/>
          </a:xfrm>
          <a:custGeom>
            <a:avLst/>
            <a:gdLst/>
            <a:ahLst/>
            <a:cxnLst/>
            <a:rect r="r" b="b" t="t" l="l"/>
            <a:pathLst>
              <a:path h="4206666" w="10103113">
                <a:moveTo>
                  <a:pt x="0" y="0"/>
                </a:moveTo>
                <a:lnTo>
                  <a:pt x="10103112" y="0"/>
                </a:lnTo>
                <a:lnTo>
                  <a:pt x="10103112" y="4206666"/>
                </a:lnTo>
                <a:lnTo>
                  <a:pt x="0" y="42066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572830"/>
            <a:ext cx="12962390" cy="1428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4"/>
              </a:lnSpc>
            </a:pPr>
            <a:r>
              <a:rPr lang="en-US" sz="6338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Experimento 4: Tasa de Aprendizaje (LR)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5433" y="3258001"/>
            <a:ext cx="11848315" cy="127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96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LR Alto (0.05): Desempeño inestable y oscilante. 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96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LR Bajo (0.00001): Convergencia demasiado lenta.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96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LR Intermedio (0.001): Curva suave y balance óptimo (Accuracy ~87,86%).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71157" y="4538788"/>
            <a:ext cx="1282462" cy="397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2"/>
              </a:lnSpc>
              <a:spcBef>
                <a:spcPct val="0"/>
              </a:spcBef>
            </a:pPr>
            <a:r>
              <a:rPr lang="en-US" sz="2173" spc="-86">
                <a:solidFill>
                  <a:srgbClr val="B9B9B9"/>
                </a:solidFill>
                <a:latin typeface="Telegraf"/>
                <a:ea typeface="Telegraf"/>
                <a:cs typeface="Telegraf"/>
                <a:sym typeface="Telegraf"/>
              </a:rPr>
              <a:t>ARQ BASE: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99755" y="5336357"/>
            <a:ext cx="2792088" cy="1408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5"/>
              </a:lnSpc>
            </a:pPr>
            <a:r>
              <a:rPr lang="en-US" sz="1975" spc="-79">
                <a:solidFill>
                  <a:srgbClr val="B9B9B9"/>
                </a:solidFill>
                <a:latin typeface="Telegraf"/>
                <a:ea typeface="Telegraf"/>
                <a:cs typeface="Telegraf"/>
                <a:sym typeface="Telegraf"/>
              </a:rPr>
              <a:t>Capa Flatten (784)</a:t>
            </a:r>
          </a:p>
          <a:p>
            <a:pPr algn="l">
              <a:lnSpc>
                <a:spcPts val="2765"/>
              </a:lnSpc>
              <a:spcBef>
                <a:spcPct val="0"/>
              </a:spcBef>
            </a:pPr>
            <a:r>
              <a:rPr lang="en-US" sz="1975" spc="-79">
                <a:solidFill>
                  <a:srgbClr val="B9B9B9"/>
                </a:solidFill>
                <a:latin typeface="Telegraf"/>
                <a:ea typeface="Telegraf"/>
                <a:cs typeface="Telegraf"/>
                <a:sym typeface="Telegraf"/>
              </a:rPr>
              <a:t>Oc</a:t>
            </a:r>
            <a:r>
              <a:rPr lang="en-US" sz="1975" spc="-79">
                <a:solidFill>
                  <a:srgbClr val="B9B9B9"/>
                </a:solidFill>
                <a:latin typeface="Telegraf"/>
                <a:ea typeface="Telegraf"/>
                <a:cs typeface="Telegraf"/>
                <a:sym typeface="Telegraf"/>
              </a:rPr>
              <a:t>ulta 1 (512)</a:t>
            </a:r>
          </a:p>
          <a:p>
            <a:pPr algn="l">
              <a:lnSpc>
                <a:spcPts val="2765"/>
              </a:lnSpc>
              <a:spcBef>
                <a:spcPct val="0"/>
              </a:spcBef>
            </a:pPr>
            <a:r>
              <a:rPr lang="en-US" sz="1975" spc="-79">
                <a:solidFill>
                  <a:srgbClr val="B9B9B9"/>
                </a:solidFill>
                <a:latin typeface="Telegraf"/>
                <a:ea typeface="Telegraf"/>
                <a:cs typeface="Telegraf"/>
                <a:sym typeface="Telegraf"/>
              </a:rPr>
              <a:t>Oculta 2 (256)</a:t>
            </a:r>
          </a:p>
          <a:p>
            <a:pPr algn="l">
              <a:lnSpc>
                <a:spcPts val="2765"/>
              </a:lnSpc>
              <a:spcBef>
                <a:spcPct val="0"/>
              </a:spcBef>
            </a:pPr>
            <a:r>
              <a:rPr lang="en-US" sz="1975" spc="-79">
                <a:solidFill>
                  <a:srgbClr val="B9B9B9"/>
                </a:solidFill>
                <a:latin typeface="Telegraf"/>
                <a:ea typeface="Telegraf"/>
                <a:cs typeface="Telegraf"/>
                <a:sym typeface="Telegraf"/>
              </a:rPr>
              <a:t>Salida Softmax (10).</a:t>
            </a:r>
          </a:p>
        </p:txBody>
      </p:sp>
      <p:sp>
        <p:nvSpPr>
          <p:cNvPr name="Freeform 4" id="4"/>
          <p:cNvSpPr/>
          <p:nvPr/>
        </p:nvSpPr>
        <p:spPr>
          <a:xfrm>
            <a:off x="1871157" y="4770738"/>
            <a:ext cx="68686" cy="1303289"/>
          </a:xfrm>
          <a:custGeom>
            <a:avLst/>
            <a:gdLst/>
            <a:ahLst/>
            <a:cxnLst/>
            <a:rect r="r" b="b" t="t" l="l"/>
            <a:pathLst>
              <a:path h="1303289" w="68686">
                <a:moveTo>
                  <a:pt x="0" y="0"/>
                </a:moveTo>
                <a:lnTo>
                  <a:pt x="0" y="617302"/>
                </a:lnTo>
                <a:cubicBezTo>
                  <a:pt x="0" y="636269"/>
                  <a:pt x="15376" y="651645"/>
                  <a:pt x="34343" y="651645"/>
                </a:cubicBezTo>
                <a:lnTo>
                  <a:pt x="34343" y="651645"/>
                </a:lnTo>
                <a:cubicBezTo>
                  <a:pt x="53310" y="651645"/>
                  <a:pt x="68686" y="667021"/>
                  <a:pt x="68686" y="685988"/>
                </a:cubicBezTo>
                <a:lnTo>
                  <a:pt x="68686" y="1303290"/>
                </a:lnTo>
              </a:path>
            </a:pathLst>
          </a:cu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5" id="5"/>
          <p:cNvSpPr/>
          <p:nvPr/>
        </p:nvSpPr>
        <p:spPr>
          <a:xfrm>
            <a:off x="4899755" y="5422383"/>
            <a:ext cx="0" cy="651645"/>
          </a:xfrm>
          <a:custGeom>
            <a:avLst/>
            <a:gdLst/>
            <a:ahLst/>
            <a:cxnLst/>
            <a:rect r="r" b="b" t="t" l="l"/>
            <a:pathLst>
              <a:path h="651645" w="0">
                <a:moveTo>
                  <a:pt x="0" y="0"/>
                </a:moveTo>
                <a:lnTo>
                  <a:pt x="0" y="651645"/>
                </a:lnTo>
              </a:path>
            </a:pathLst>
          </a:cu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6" id="6"/>
          <p:cNvSpPr/>
          <p:nvPr/>
        </p:nvSpPr>
        <p:spPr>
          <a:xfrm>
            <a:off x="8172148" y="5472349"/>
            <a:ext cx="0" cy="701610"/>
          </a:xfrm>
          <a:custGeom>
            <a:avLst/>
            <a:gdLst/>
            <a:ahLst/>
            <a:cxnLst/>
            <a:rect r="r" b="b" t="t" l="l"/>
            <a:pathLst>
              <a:path h="701610" w="0">
                <a:moveTo>
                  <a:pt x="0" y="0"/>
                </a:moveTo>
                <a:lnTo>
                  <a:pt x="0" y="701610"/>
                </a:lnTo>
              </a:path>
            </a:pathLst>
          </a:cu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3450261" y="4467375"/>
            <a:ext cx="1703052" cy="3213306"/>
          </a:xfrm>
          <a:custGeom>
            <a:avLst/>
            <a:gdLst/>
            <a:ahLst/>
            <a:cxnLst/>
            <a:rect r="r" b="b" t="t" l="l"/>
            <a:pathLst>
              <a:path h="3213306" w="1703052">
                <a:moveTo>
                  <a:pt x="0" y="0"/>
                </a:moveTo>
                <a:lnTo>
                  <a:pt x="1703052" y="0"/>
                </a:lnTo>
                <a:lnTo>
                  <a:pt x="1703052" y="3213306"/>
                </a:lnTo>
                <a:lnTo>
                  <a:pt x="0" y="3213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572830"/>
            <a:ext cx="15148392" cy="1428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4"/>
              </a:lnSpc>
            </a:pPr>
            <a:r>
              <a:rPr lang="en-US" sz="6338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Experimento 5: Evaluación de arquitecturas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72148" y="4538788"/>
            <a:ext cx="1961941" cy="397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2"/>
              </a:lnSpc>
              <a:spcBef>
                <a:spcPct val="0"/>
              </a:spcBef>
            </a:pPr>
            <a:r>
              <a:rPr lang="en-US" sz="2173" spc="-86">
                <a:solidFill>
                  <a:srgbClr val="B9B9B9"/>
                </a:solidFill>
                <a:latin typeface="Telegraf"/>
                <a:ea typeface="Telegraf"/>
                <a:cs typeface="Telegraf"/>
                <a:sym typeface="Telegraf"/>
              </a:rPr>
              <a:t>ARQ PROFUNDA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99755" y="4538788"/>
            <a:ext cx="1496977" cy="397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2"/>
              </a:lnSpc>
              <a:spcBef>
                <a:spcPct val="0"/>
              </a:spcBef>
            </a:pPr>
            <a:r>
              <a:rPr lang="en-US" sz="2173" spc="-86">
                <a:solidFill>
                  <a:srgbClr val="B9B9B9"/>
                </a:solidFill>
                <a:latin typeface="Telegraf"/>
                <a:ea typeface="Telegraf"/>
                <a:cs typeface="Telegraf"/>
                <a:sym typeface="Telegraf"/>
              </a:rPr>
              <a:t>ARQ ANCHA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39843" y="5336357"/>
            <a:ext cx="2220538" cy="1408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5"/>
              </a:lnSpc>
            </a:pPr>
            <a:r>
              <a:rPr lang="en-US" sz="1975" spc="-79">
                <a:solidFill>
                  <a:srgbClr val="B9B9B9"/>
                </a:solidFill>
                <a:latin typeface="Telegraf"/>
                <a:ea typeface="Telegraf"/>
                <a:cs typeface="Telegraf"/>
                <a:sym typeface="Telegraf"/>
              </a:rPr>
              <a:t>Capa Flatten (784)</a:t>
            </a:r>
          </a:p>
          <a:p>
            <a:pPr algn="l">
              <a:lnSpc>
                <a:spcPts val="2765"/>
              </a:lnSpc>
              <a:spcBef>
                <a:spcPct val="0"/>
              </a:spcBef>
            </a:pPr>
            <a:r>
              <a:rPr lang="en-US" sz="1975" spc="-79">
                <a:solidFill>
                  <a:srgbClr val="B9B9B9"/>
                </a:solidFill>
                <a:latin typeface="Telegraf"/>
                <a:ea typeface="Telegraf"/>
                <a:cs typeface="Telegraf"/>
                <a:sym typeface="Telegraf"/>
              </a:rPr>
              <a:t>Oc</a:t>
            </a:r>
            <a:r>
              <a:rPr lang="en-US" sz="1975" spc="-79">
                <a:solidFill>
                  <a:srgbClr val="B9B9B9"/>
                </a:solidFill>
                <a:latin typeface="Telegraf"/>
                <a:ea typeface="Telegraf"/>
                <a:cs typeface="Telegraf"/>
                <a:sym typeface="Telegraf"/>
              </a:rPr>
              <a:t>ulta 1 (256)</a:t>
            </a:r>
          </a:p>
          <a:p>
            <a:pPr algn="l">
              <a:lnSpc>
                <a:spcPts val="2765"/>
              </a:lnSpc>
              <a:spcBef>
                <a:spcPct val="0"/>
              </a:spcBef>
            </a:pPr>
            <a:r>
              <a:rPr lang="en-US" sz="1975" spc="-79">
                <a:solidFill>
                  <a:srgbClr val="B9B9B9"/>
                </a:solidFill>
                <a:latin typeface="Telegraf"/>
                <a:ea typeface="Telegraf"/>
                <a:cs typeface="Telegraf"/>
                <a:sym typeface="Telegraf"/>
              </a:rPr>
              <a:t>Oculta 2 (128)</a:t>
            </a:r>
          </a:p>
          <a:p>
            <a:pPr algn="l">
              <a:lnSpc>
                <a:spcPts val="2765"/>
              </a:lnSpc>
              <a:spcBef>
                <a:spcPct val="0"/>
              </a:spcBef>
            </a:pPr>
            <a:r>
              <a:rPr lang="en-US" sz="1975" spc="-79">
                <a:solidFill>
                  <a:srgbClr val="B9B9B9"/>
                </a:solidFill>
                <a:latin typeface="Telegraf"/>
                <a:ea typeface="Telegraf"/>
                <a:cs typeface="Telegraf"/>
                <a:sym typeface="Telegraf"/>
              </a:rPr>
              <a:t>Salida Softmax (10).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72148" y="5262267"/>
            <a:ext cx="2792088" cy="175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5"/>
              </a:lnSpc>
            </a:pPr>
            <a:r>
              <a:rPr lang="en-US" sz="1975" spc="-79">
                <a:solidFill>
                  <a:srgbClr val="B9B9B9"/>
                </a:solidFill>
                <a:latin typeface="Telegraf"/>
                <a:ea typeface="Telegraf"/>
                <a:cs typeface="Telegraf"/>
                <a:sym typeface="Telegraf"/>
              </a:rPr>
              <a:t>Capa Flatten (784)</a:t>
            </a:r>
          </a:p>
          <a:p>
            <a:pPr algn="l">
              <a:lnSpc>
                <a:spcPts val="2765"/>
              </a:lnSpc>
              <a:spcBef>
                <a:spcPct val="0"/>
              </a:spcBef>
            </a:pPr>
            <a:r>
              <a:rPr lang="en-US" sz="1975" spc="-79">
                <a:solidFill>
                  <a:srgbClr val="B9B9B9"/>
                </a:solidFill>
                <a:latin typeface="Telegraf"/>
                <a:ea typeface="Telegraf"/>
                <a:cs typeface="Telegraf"/>
                <a:sym typeface="Telegraf"/>
              </a:rPr>
              <a:t>Oc</a:t>
            </a:r>
            <a:r>
              <a:rPr lang="en-US" sz="1975" spc="-79">
                <a:solidFill>
                  <a:srgbClr val="B9B9B9"/>
                </a:solidFill>
                <a:latin typeface="Telegraf"/>
                <a:ea typeface="Telegraf"/>
                <a:cs typeface="Telegraf"/>
                <a:sym typeface="Telegraf"/>
              </a:rPr>
              <a:t>ulta 1 (256)</a:t>
            </a:r>
          </a:p>
          <a:p>
            <a:pPr algn="l">
              <a:lnSpc>
                <a:spcPts val="2765"/>
              </a:lnSpc>
              <a:spcBef>
                <a:spcPct val="0"/>
              </a:spcBef>
            </a:pPr>
            <a:r>
              <a:rPr lang="en-US" sz="1975" spc="-79">
                <a:solidFill>
                  <a:srgbClr val="B9B9B9"/>
                </a:solidFill>
                <a:latin typeface="Telegraf"/>
                <a:ea typeface="Telegraf"/>
                <a:cs typeface="Telegraf"/>
                <a:sym typeface="Telegraf"/>
              </a:rPr>
              <a:t>Oculta 2 (128)</a:t>
            </a:r>
          </a:p>
          <a:p>
            <a:pPr algn="l">
              <a:lnSpc>
                <a:spcPts val="2765"/>
              </a:lnSpc>
              <a:spcBef>
                <a:spcPct val="0"/>
              </a:spcBef>
            </a:pPr>
            <a:r>
              <a:rPr lang="en-US" sz="1975" spc="-79">
                <a:solidFill>
                  <a:srgbClr val="B9B9B9"/>
                </a:solidFill>
                <a:latin typeface="Telegraf"/>
                <a:ea typeface="Telegraf"/>
                <a:cs typeface="Telegraf"/>
                <a:sym typeface="Telegraf"/>
              </a:rPr>
              <a:t>Oculta 3 (64)</a:t>
            </a:r>
          </a:p>
          <a:p>
            <a:pPr algn="l">
              <a:lnSpc>
                <a:spcPts val="2765"/>
              </a:lnSpc>
              <a:spcBef>
                <a:spcPct val="0"/>
              </a:spcBef>
            </a:pPr>
            <a:r>
              <a:rPr lang="en-US" sz="1975" spc="-79">
                <a:solidFill>
                  <a:srgbClr val="B9B9B9"/>
                </a:solidFill>
                <a:latin typeface="Telegraf"/>
                <a:ea typeface="Telegraf"/>
                <a:cs typeface="Telegraf"/>
                <a:sym typeface="Telegraf"/>
              </a:rPr>
              <a:t>Salida Softmax (10).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0594" y="3970966"/>
            <a:ext cx="9947391" cy="4102106"/>
          </a:xfrm>
          <a:custGeom>
            <a:avLst/>
            <a:gdLst/>
            <a:ahLst/>
            <a:cxnLst/>
            <a:rect r="r" b="b" t="t" l="l"/>
            <a:pathLst>
              <a:path h="4102106" w="9947391">
                <a:moveTo>
                  <a:pt x="0" y="0"/>
                </a:moveTo>
                <a:lnTo>
                  <a:pt x="9947391" y="0"/>
                </a:lnTo>
                <a:lnTo>
                  <a:pt x="9947391" y="4102106"/>
                </a:lnTo>
                <a:lnTo>
                  <a:pt x="0" y="41021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1226401" y="4930217"/>
          <a:ext cx="7543800" cy="2514600"/>
        </p:xfrm>
        <a:graphic>
          <a:graphicData uri="http://schemas.openxmlformats.org/presentationml/2006/ole">
            <p:oleObj imgW="9042400" imgH="4013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28700" y="1572830"/>
            <a:ext cx="15148392" cy="1428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4"/>
              </a:lnSpc>
            </a:pPr>
            <a:r>
              <a:rPr lang="en-US" sz="6338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Experimento 5: Evaluación de arquitecturas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3264" y="2312213"/>
            <a:ext cx="16841472" cy="75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4"/>
              </a:lnSpc>
            </a:pPr>
            <a:r>
              <a:rPr lang="en-US" sz="6338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Arquitectura final del modelo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03868" y="4683188"/>
            <a:ext cx="4307212" cy="2555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2425" spc="-97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Arquitectura Base (256, 128)</a:t>
            </a:r>
          </a:p>
          <a:p>
            <a:pPr algn="l">
              <a:lnSpc>
                <a:spcPts val="3395"/>
              </a:lnSpc>
            </a:pPr>
            <a:r>
              <a:rPr lang="en-US" sz="2425" spc="-97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Func. Activación: ReLU </a:t>
            </a:r>
          </a:p>
          <a:p>
            <a:pPr algn="l">
              <a:lnSpc>
                <a:spcPts val="3395"/>
              </a:lnSpc>
            </a:pPr>
            <a:r>
              <a:rPr lang="en-US" sz="2425" spc="-97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Regularización: Dropout </a:t>
            </a:r>
          </a:p>
          <a:p>
            <a:pPr algn="l">
              <a:lnSpc>
                <a:spcPts val="3395"/>
              </a:lnSpc>
            </a:pPr>
            <a:r>
              <a:rPr lang="en-US" sz="2425" spc="-97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Tasa de Aprendizaje: 0.001 </a:t>
            </a:r>
          </a:p>
          <a:p>
            <a:pPr algn="l">
              <a:lnSpc>
                <a:spcPts val="3395"/>
              </a:lnSpc>
            </a:pPr>
            <a:r>
              <a:rPr lang="en-US" sz="2425" spc="-97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Épocas: 30</a:t>
            </a:r>
          </a:p>
          <a:p>
            <a:pPr algn="l">
              <a:lnSpc>
                <a:spcPts val="3395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943408" y="4866985"/>
            <a:ext cx="5331709" cy="1408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5"/>
              </a:lnSpc>
              <a:spcBef>
                <a:spcPct val="0"/>
              </a:spcBef>
            </a:pPr>
            <a:r>
              <a:rPr lang="en-US" sz="1975" spc="-79">
                <a:solidFill>
                  <a:srgbClr val="B9B9B9"/>
                </a:solidFill>
                <a:latin typeface="Telegraf"/>
                <a:ea typeface="Telegraf"/>
                <a:cs typeface="Telegraf"/>
                <a:sym typeface="Telegraf"/>
              </a:rPr>
              <a:t>Es suficiente para el tipo de problemas de clasificación que intentamos resolver,  sumando equilibrio entre coste computacional y rendimiento en el modelo</a:t>
            </a:r>
          </a:p>
        </p:txBody>
      </p:sp>
      <p:sp>
        <p:nvSpPr>
          <p:cNvPr name="AutoShape 5" id="5"/>
          <p:cNvSpPr/>
          <p:nvPr/>
        </p:nvSpPr>
        <p:spPr>
          <a:xfrm>
            <a:off x="7250953" y="5604656"/>
            <a:ext cx="280612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76300" y="4200525"/>
            <a:ext cx="8058150" cy="4101193"/>
            <a:chOff x="0" y="0"/>
            <a:chExt cx="10744200" cy="546825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175000" cy="497114"/>
              <a:chOff x="0" y="0"/>
              <a:chExt cx="3175000" cy="497114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1750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3175000">
                    <a:moveTo>
                      <a:pt x="0" y="0"/>
                    </a:moveTo>
                    <a:lnTo>
                      <a:pt x="3175000" y="0"/>
                    </a:lnTo>
                    <a:lnTo>
                      <a:pt x="31750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B9D5E6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31750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77800" y="28575"/>
              <a:ext cx="2895600" cy="2973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50"/>
                </a:lnSpc>
              </a:pPr>
              <a:r>
                <a:rPr lang="en-US" b="true" sz="125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Clase / métrica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3175000" y="0"/>
              <a:ext cx="1841500" cy="497114"/>
              <a:chOff x="0" y="0"/>
              <a:chExt cx="1841500" cy="49711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B9D5E6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175000" y="28575"/>
              <a:ext cx="1841500" cy="2973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0"/>
                </a:lnSpc>
              </a:pPr>
              <a:r>
                <a:rPr lang="en-US" b="true" sz="125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Precision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5016500" y="0"/>
              <a:ext cx="1841500" cy="497114"/>
              <a:chOff x="0" y="0"/>
              <a:chExt cx="1841500" cy="49711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B9D5E6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5016500" y="28575"/>
              <a:ext cx="1841500" cy="2973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0"/>
                </a:lnSpc>
              </a:pPr>
              <a:r>
                <a:rPr lang="en-US" b="true" sz="125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Recall</a:t>
              </a:r>
            </a:p>
          </p:txBody>
        </p:sp>
        <p:grpSp>
          <p:nvGrpSpPr>
            <p:cNvPr name="Group 16" id="16"/>
            <p:cNvGrpSpPr/>
            <p:nvPr/>
          </p:nvGrpSpPr>
          <p:grpSpPr>
            <a:xfrm rot="0">
              <a:off x="6858000" y="0"/>
              <a:ext cx="1841500" cy="497114"/>
              <a:chOff x="0" y="0"/>
              <a:chExt cx="1841500" cy="49711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B9D5E6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6858000" y="28575"/>
              <a:ext cx="1841500" cy="2973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0"/>
                </a:lnSpc>
              </a:pPr>
              <a:r>
                <a:rPr lang="en-US" b="true" sz="125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F1-score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8699500" y="0"/>
              <a:ext cx="2044700" cy="497114"/>
              <a:chOff x="0" y="0"/>
              <a:chExt cx="2044700" cy="497114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0447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2044700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B9D5E6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20447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8699500" y="28575"/>
              <a:ext cx="2044700" cy="2973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0"/>
                </a:lnSpc>
              </a:pPr>
              <a:r>
                <a:rPr lang="en-US" b="true" sz="125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Support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0" y="497114"/>
              <a:ext cx="3175000" cy="497114"/>
              <a:chOff x="0" y="0"/>
              <a:chExt cx="3175000" cy="49711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1750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3175000">
                    <a:moveTo>
                      <a:pt x="0" y="0"/>
                    </a:moveTo>
                    <a:lnTo>
                      <a:pt x="3175000" y="0"/>
                    </a:lnTo>
                    <a:lnTo>
                      <a:pt x="31750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31750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177800" y="535214"/>
              <a:ext cx="28956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T-shirt/top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3175000" y="497114"/>
              <a:ext cx="1841500" cy="497114"/>
              <a:chOff x="0" y="0"/>
              <a:chExt cx="1841500" cy="497114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175000" y="535214"/>
              <a:ext cx="18415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0.84</a:t>
              </a:r>
            </a:p>
          </p:txBody>
        </p:sp>
        <p:grpSp>
          <p:nvGrpSpPr>
            <p:cNvPr name="Group 32" id="32"/>
            <p:cNvGrpSpPr/>
            <p:nvPr/>
          </p:nvGrpSpPr>
          <p:grpSpPr>
            <a:xfrm rot="0">
              <a:off x="5016500" y="497114"/>
              <a:ext cx="1841500" cy="497114"/>
              <a:chOff x="0" y="0"/>
              <a:chExt cx="1841500" cy="497114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5016500" y="535214"/>
              <a:ext cx="1841500" cy="276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0.83</a:t>
              </a:r>
            </a:p>
          </p:txBody>
        </p:sp>
        <p:grpSp>
          <p:nvGrpSpPr>
            <p:cNvPr name="Group 36" id="36"/>
            <p:cNvGrpSpPr/>
            <p:nvPr/>
          </p:nvGrpSpPr>
          <p:grpSpPr>
            <a:xfrm rot="0">
              <a:off x="6858000" y="497114"/>
              <a:ext cx="1841500" cy="497114"/>
              <a:chOff x="0" y="0"/>
              <a:chExt cx="1841500" cy="497114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6858000" y="535214"/>
              <a:ext cx="18415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0.85</a:t>
              </a:r>
            </a:p>
          </p:txBody>
        </p:sp>
        <p:grpSp>
          <p:nvGrpSpPr>
            <p:cNvPr name="Group 40" id="40"/>
            <p:cNvGrpSpPr/>
            <p:nvPr/>
          </p:nvGrpSpPr>
          <p:grpSpPr>
            <a:xfrm rot="0">
              <a:off x="8699500" y="497114"/>
              <a:ext cx="2044700" cy="497114"/>
              <a:chOff x="0" y="0"/>
              <a:chExt cx="2044700" cy="497114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0447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2044700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20447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8699500" y="535214"/>
              <a:ext cx="20447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1,000</a:t>
              </a:r>
            </a:p>
          </p:txBody>
        </p:sp>
        <p:grpSp>
          <p:nvGrpSpPr>
            <p:cNvPr name="Group 44" id="44"/>
            <p:cNvGrpSpPr/>
            <p:nvPr/>
          </p:nvGrpSpPr>
          <p:grpSpPr>
            <a:xfrm rot="0">
              <a:off x="0" y="994229"/>
              <a:ext cx="3175000" cy="497114"/>
              <a:chOff x="0" y="0"/>
              <a:chExt cx="3175000" cy="497114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31750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3175000">
                    <a:moveTo>
                      <a:pt x="0" y="0"/>
                    </a:moveTo>
                    <a:lnTo>
                      <a:pt x="3175000" y="0"/>
                    </a:lnTo>
                    <a:lnTo>
                      <a:pt x="31750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31750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177800" y="1032329"/>
              <a:ext cx="28956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Trouser</a:t>
              </a:r>
            </a:p>
          </p:txBody>
        </p:sp>
        <p:grpSp>
          <p:nvGrpSpPr>
            <p:cNvPr name="Group 48" id="48"/>
            <p:cNvGrpSpPr/>
            <p:nvPr/>
          </p:nvGrpSpPr>
          <p:grpSpPr>
            <a:xfrm rot="0">
              <a:off x="3175000" y="994229"/>
              <a:ext cx="1841500" cy="497114"/>
              <a:chOff x="0" y="0"/>
              <a:chExt cx="1841500" cy="497114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3175000" y="1032329"/>
              <a:ext cx="1841500" cy="276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0.99</a:t>
              </a:r>
            </a:p>
          </p:txBody>
        </p:sp>
        <p:grpSp>
          <p:nvGrpSpPr>
            <p:cNvPr name="Group 52" id="52"/>
            <p:cNvGrpSpPr/>
            <p:nvPr/>
          </p:nvGrpSpPr>
          <p:grpSpPr>
            <a:xfrm rot="0">
              <a:off x="5016500" y="994229"/>
              <a:ext cx="1841500" cy="497114"/>
              <a:chOff x="0" y="0"/>
              <a:chExt cx="1841500" cy="497114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5016500" y="1032329"/>
              <a:ext cx="18415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0.97</a:t>
              </a:r>
            </a:p>
          </p:txBody>
        </p:sp>
        <p:grpSp>
          <p:nvGrpSpPr>
            <p:cNvPr name="Group 56" id="56"/>
            <p:cNvGrpSpPr/>
            <p:nvPr/>
          </p:nvGrpSpPr>
          <p:grpSpPr>
            <a:xfrm rot="0">
              <a:off x="6858000" y="994229"/>
              <a:ext cx="1841500" cy="497114"/>
              <a:chOff x="0" y="0"/>
              <a:chExt cx="1841500" cy="497114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9" id="59"/>
            <p:cNvSpPr txBox="true"/>
            <p:nvPr/>
          </p:nvSpPr>
          <p:spPr>
            <a:xfrm rot="0">
              <a:off x="6858000" y="1032329"/>
              <a:ext cx="18415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0.98</a:t>
              </a:r>
            </a:p>
          </p:txBody>
        </p:sp>
        <p:grpSp>
          <p:nvGrpSpPr>
            <p:cNvPr name="Group 60" id="60"/>
            <p:cNvGrpSpPr/>
            <p:nvPr/>
          </p:nvGrpSpPr>
          <p:grpSpPr>
            <a:xfrm rot="0">
              <a:off x="8699500" y="994229"/>
              <a:ext cx="2044700" cy="497114"/>
              <a:chOff x="0" y="0"/>
              <a:chExt cx="2044700" cy="497114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20447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2044700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38100"/>
                <a:ext cx="20447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3" id="63"/>
            <p:cNvSpPr txBox="true"/>
            <p:nvPr/>
          </p:nvSpPr>
          <p:spPr>
            <a:xfrm rot="0">
              <a:off x="8699500" y="1032329"/>
              <a:ext cx="20447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1,000</a:t>
              </a:r>
            </a:p>
          </p:txBody>
        </p:sp>
        <p:grpSp>
          <p:nvGrpSpPr>
            <p:cNvPr name="Group 64" id="64"/>
            <p:cNvGrpSpPr/>
            <p:nvPr/>
          </p:nvGrpSpPr>
          <p:grpSpPr>
            <a:xfrm rot="0">
              <a:off x="0" y="1491343"/>
              <a:ext cx="3175000" cy="497114"/>
              <a:chOff x="0" y="0"/>
              <a:chExt cx="3175000" cy="497114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31750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3175000">
                    <a:moveTo>
                      <a:pt x="0" y="0"/>
                    </a:moveTo>
                    <a:lnTo>
                      <a:pt x="3175000" y="0"/>
                    </a:lnTo>
                    <a:lnTo>
                      <a:pt x="31750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38100"/>
                <a:ext cx="31750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177800" y="1529443"/>
              <a:ext cx="28956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Pullover</a:t>
              </a:r>
            </a:p>
          </p:txBody>
        </p:sp>
        <p:grpSp>
          <p:nvGrpSpPr>
            <p:cNvPr name="Group 68" id="68"/>
            <p:cNvGrpSpPr/>
            <p:nvPr/>
          </p:nvGrpSpPr>
          <p:grpSpPr>
            <a:xfrm rot="0">
              <a:off x="3175000" y="1491343"/>
              <a:ext cx="1841500" cy="497114"/>
              <a:chOff x="0" y="0"/>
              <a:chExt cx="1841500" cy="497114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1" id="71"/>
            <p:cNvSpPr txBox="true"/>
            <p:nvPr/>
          </p:nvSpPr>
          <p:spPr>
            <a:xfrm rot="0">
              <a:off x="3175000" y="1529443"/>
              <a:ext cx="1841500" cy="276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0.83</a:t>
              </a:r>
            </a:p>
          </p:txBody>
        </p:sp>
        <p:grpSp>
          <p:nvGrpSpPr>
            <p:cNvPr name="Group 72" id="72"/>
            <p:cNvGrpSpPr/>
            <p:nvPr/>
          </p:nvGrpSpPr>
          <p:grpSpPr>
            <a:xfrm rot="0">
              <a:off x="5016500" y="1491343"/>
              <a:ext cx="1841500" cy="497114"/>
              <a:chOff x="0" y="0"/>
              <a:chExt cx="1841500" cy="497114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5" id="75"/>
            <p:cNvSpPr txBox="true"/>
            <p:nvPr/>
          </p:nvSpPr>
          <p:spPr>
            <a:xfrm rot="0">
              <a:off x="5016500" y="1529443"/>
              <a:ext cx="1841500" cy="276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0.79</a:t>
              </a:r>
            </a:p>
          </p:txBody>
        </p:sp>
        <p:grpSp>
          <p:nvGrpSpPr>
            <p:cNvPr name="Group 76" id="76"/>
            <p:cNvGrpSpPr/>
            <p:nvPr/>
          </p:nvGrpSpPr>
          <p:grpSpPr>
            <a:xfrm rot="0">
              <a:off x="6858000" y="1491343"/>
              <a:ext cx="1841500" cy="497114"/>
              <a:chOff x="0" y="0"/>
              <a:chExt cx="1841500" cy="497114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9" id="79"/>
            <p:cNvSpPr txBox="true"/>
            <p:nvPr/>
          </p:nvSpPr>
          <p:spPr>
            <a:xfrm rot="0">
              <a:off x="6858000" y="1529443"/>
              <a:ext cx="1841500" cy="276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0.81</a:t>
              </a:r>
            </a:p>
          </p:txBody>
        </p:sp>
        <p:grpSp>
          <p:nvGrpSpPr>
            <p:cNvPr name="Group 80" id="80"/>
            <p:cNvGrpSpPr/>
            <p:nvPr/>
          </p:nvGrpSpPr>
          <p:grpSpPr>
            <a:xfrm rot="0">
              <a:off x="8699500" y="1491343"/>
              <a:ext cx="2044700" cy="497114"/>
              <a:chOff x="0" y="0"/>
              <a:chExt cx="2044700" cy="497114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20447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2044700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82" id="82"/>
              <p:cNvSpPr txBox="true"/>
              <p:nvPr/>
            </p:nvSpPr>
            <p:spPr>
              <a:xfrm>
                <a:off x="0" y="-38100"/>
                <a:ext cx="20447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3" id="83"/>
            <p:cNvSpPr txBox="true"/>
            <p:nvPr/>
          </p:nvSpPr>
          <p:spPr>
            <a:xfrm rot="0">
              <a:off x="8699500" y="1529443"/>
              <a:ext cx="20447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1,000</a:t>
              </a:r>
            </a:p>
          </p:txBody>
        </p:sp>
        <p:grpSp>
          <p:nvGrpSpPr>
            <p:cNvPr name="Group 84" id="84"/>
            <p:cNvGrpSpPr/>
            <p:nvPr/>
          </p:nvGrpSpPr>
          <p:grpSpPr>
            <a:xfrm rot="0">
              <a:off x="0" y="1988457"/>
              <a:ext cx="3175000" cy="497114"/>
              <a:chOff x="0" y="0"/>
              <a:chExt cx="3175000" cy="497114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31750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3175000">
                    <a:moveTo>
                      <a:pt x="0" y="0"/>
                    </a:moveTo>
                    <a:lnTo>
                      <a:pt x="3175000" y="0"/>
                    </a:lnTo>
                    <a:lnTo>
                      <a:pt x="31750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86" id="86"/>
              <p:cNvSpPr txBox="true"/>
              <p:nvPr/>
            </p:nvSpPr>
            <p:spPr>
              <a:xfrm>
                <a:off x="0" y="-38100"/>
                <a:ext cx="31750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7" id="87"/>
            <p:cNvSpPr txBox="true"/>
            <p:nvPr/>
          </p:nvSpPr>
          <p:spPr>
            <a:xfrm rot="0">
              <a:off x="177800" y="2026557"/>
              <a:ext cx="28956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Dress</a:t>
              </a:r>
            </a:p>
          </p:txBody>
        </p:sp>
        <p:grpSp>
          <p:nvGrpSpPr>
            <p:cNvPr name="Group 88" id="88"/>
            <p:cNvGrpSpPr/>
            <p:nvPr/>
          </p:nvGrpSpPr>
          <p:grpSpPr>
            <a:xfrm rot="0">
              <a:off x="3175000" y="1988457"/>
              <a:ext cx="1841500" cy="497114"/>
              <a:chOff x="0" y="0"/>
              <a:chExt cx="1841500" cy="497114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1" id="91"/>
            <p:cNvSpPr txBox="true"/>
            <p:nvPr/>
          </p:nvSpPr>
          <p:spPr>
            <a:xfrm rot="0">
              <a:off x="3175000" y="2026557"/>
              <a:ext cx="18415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0.90</a:t>
              </a:r>
            </a:p>
          </p:txBody>
        </p:sp>
        <p:grpSp>
          <p:nvGrpSpPr>
            <p:cNvPr name="Group 92" id="92"/>
            <p:cNvGrpSpPr/>
            <p:nvPr/>
          </p:nvGrpSpPr>
          <p:grpSpPr>
            <a:xfrm rot="0">
              <a:off x="5016500" y="1988457"/>
              <a:ext cx="1841500" cy="497114"/>
              <a:chOff x="0" y="0"/>
              <a:chExt cx="1841500" cy="497114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5" id="95"/>
            <p:cNvSpPr txBox="true"/>
            <p:nvPr/>
          </p:nvSpPr>
          <p:spPr>
            <a:xfrm rot="0">
              <a:off x="5016500" y="2026557"/>
              <a:ext cx="1841500" cy="276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0.90</a:t>
              </a:r>
            </a:p>
          </p:txBody>
        </p:sp>
        <p:grpSp>
          <p:nvGrpSpPr>
            <p:cNvPr name="Group 96" id="96"/>
            <p:cNvGrpSpPr/>
            <p:nvPr/>
          </p:nvGrpSpPr>
          <p:grpSpPr>
            <a:xfrm rot="0">
              <a:off x="6858000" y="1988457"/>
              <a:ext cx="1841500" cy="497114"/>
              <a:chOff x="0" y="0"/>
              <a:chExt cx="1841500" cy="497114"/>
            </a:xfrm>
          </p:grpSpPr>
          <p:sp>
            <p:nvSpPr>
              <p:cNvPr name="Freeform 97" id="97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98" id="98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9" id="99"/>
            <p:cNvSpPr txBox="true"/>
            <p:nvPr/>
          </p:nvSpPr>
          <p:spPr>
            <a:xfrm rot="0">
              <a:off x="6858000" y="2026557"/>
              <a:ext cx="18415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0.90</a:t>
              </a:r>
            </a:p>
          </p:txBody>
        </p:sp>
        <p:grpSp>
          <p:nvGrpSpPr>
            <p:cNvPr name="Group 100" id="100"/>
            <p:cNvGrpSpPr/>
            <p:nvPr/>
          </p:nvGrpSpPr>
          <p:grpSpPr>
            <a:xfrm rot="0">
              <a:off x="8699500" y="1988457"/>
              <a:ext cx="2044700" cy="497114"/>
              <a:chOff x="0" y="0"/>
              <a:chExt cx="2044700" cy="497114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20447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2044700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-38100"/>
                <a:ext cx="20447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3" id="103"/>
            <p:cNvSpPr txBox="true"/>
            <p:nvPr/>
          </p:nvSpPr>
          <p:spPr>
            <a:xfrm rot="0">
              <a:off x="8699500" y="2026557"/>
              <a:ext cx="20447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1,000</a:t>
              </a:r>
            </a:p>
          </p:txBody>
        </p:sp>
        <p:grpSp>
          <p:nvGrpSpPr>
            <p:cNvPr name="Group 104" id="104"/>
            <p:cNvGrpSpPr/>
            <p:nvPr/>
          </p:nvGrpSpPr>
          <p:grpSpPr>
            <a:xfrm rot="0">
              <a:off x="0" y="2485571"/>
              <a:ext cx="3175000" cy="497114"/>
              <a:chOff x="0" y="0"/>
              <a:chExt cx="3175000" cy="497114"/>
            </a:xfrm>
          </p:grpSpPr>
          <p:sp>
            <p:nvSpPr>
              <p:cNvPr name="Freeform 105" id="105"/>
              <p:cNvSpPr/>
              <p:nvPr/>
            </p:nvSpPr>
            <p:spPr>
              <a:xfrm flipH="false" flipV="false" rot="0">
                <a:off x="0" y="0"/>
                <a:ext cx="31750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3175000">
                    <a:moveTo>
                      <a:pt x="0" y="0"/>
                    </a:moveTo>
                    <a:lnTo>
                      <a:pt x="3175000" y="0"/>
                    </a:lnTo>
                    <a:lnTo>
                      <a:pt x="31750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06" id="106"/>
              <p:cNvSpPr txBox="true"/>
              <p:nvPr/>
            </p:nvSpPr>
            <p:spPr>
              <a:xfrm>
                <a:off x="0" y="-38100"/>
                <a:ext cx="31750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7" id="107"/>
            <p:cNvSpPr txBox="true"/>
            <p:nvPr/>
          </p:nvSpPr>
          <p:spPr>
            <a:xfrm rot="0">
              <a:off x="177800" y="2523671"/>
              <a:ext cx="28956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Coat</a:t>
              </a:r>
            </a:p>
          </p:txBody>
        </p:sp>
        <p:grpSp>
          <p:nvGrpSpPr>
            <p:cNvPr name="Group 108" id="108"/>
            <p:cNvGrpSpPr/>
            <p:nvPr/>
          </p:nvGrpSpPr>
          <p:grpSpPr>
            <a:xfrm rot="0">
              <a:off x="3175000" y="2485571"/>
              <a:ext cx="1841500" cy="497114"/>
              <a:chOff x="0" y="0"/>
              <a:chExt cx="1841500" cy="497114"/>
            </a:xfrm>
          </p:grpSpPr>
          <p:sp>
            <p:nvSpPr>
              <p:cNvPr name="Freeform 109" id="109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10" id="110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1" id="111"/>
            <p:cNvSpPr txBox="true"/>
            <p:nvPr/>
          </p:nvSpPr>
          <p:spPr>
            <a:xfrm rot="0">
              <a:off x="3175000" y="2523671"/>
              <a:ext cx="18415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0.80</a:t>
              </a:r>
            </a:p>
          </p:txBody>
        </p:sp>
        <p:grpSp>
          <p:nvGrpSpPr>
            <p:cNvPr name="Group 112" id="112"/>
            <p:cNvGrpSpPr/>
            <p:nvPr/>
          </p:nvGrpSpPr>
          <p:grpSpPr>
            <a:xfrm rot="0">
              <a:off x="5016500" y="2485571"/>
              <a:ext cx="1841500" cy="497114"/>
              <a:chOff x="0" y="0"/>
              <a:chExt cx="1841500" cy="497114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5" id="115"/>
            <p:cNvSpPr txBox="true"/>
            <p:nvPr/>
          </p:nvSpPr>
          <p:spPr>
            <a:xfrm rot="0">
              <a:off x="5016500" y="2523671"/>
              <a:ext cx="1841500" cy="276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0.81</a:t>
              </a:r>
            </a:p>
          </p:txBody>
        </p:sp>
        <p:grpSp>
          <p:nvGrpSpPr>
            <p:cNvPr name="Group 116" id="116"/>
            <p:cNvGrpSpPr/>
            <p:nvPr/>
          </p:nvGrpSpPr>
          <p:grpSpPr>
            <a:xfrm rot="0">
              <a:off x="6858000" y="2485571"/>
              <a:ext cx="1841500" cy="497114"/>
              <a:chOff x="0" y="0"/>
              <a:chExt cx="1841500" cy="497114"/>
            </a:xfrm>
          </p:grpSpPr>
          <p:sp>
            <p:nvSpPr>
              <p:cNvPr name="Freeform 117" id="117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18" id="118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9" id="119"/>
            <p:cNvSpPr txBox="true"/>
            <p:nvPr/>
          </p:nvSpPr>
          <p:spPr>
            <a:xfrm rot="0">
              <a:off x="6858000" y="2523671"/>
              <a:ext cx="18415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0.81</a:t>
              </a:r>
            </a:p>
          </p:txBody>
        </p:sp>
        <p:grpSp>
          <p:nvGrpSpPr>
            <p:cNvPr name="Group 120" id="120"/>
            <p:cNvGrpSpPr/>
            <p:nvPr/>
          </p:nvGrpSpPr>
          <p:grpSpPr>
            <a:xfrm rot="0">
              <a:off x="8699500" y="2485571"/>
              <a:ext cx="2044700" cy="497114"/>
              <a:chOff x="0" y="0"/>
              <a:chExt cx="2044700" cy="497114"/>
            </a:xfrm>
          </p:grpSpPr>
          <p:sp>
            <p:nvSpPr>
              <p:cNvPr name="Freeform 121" id="121"/>
              <p:cNvSpPr/>
              <p:nvPr/>
            </p:nvSpPr>
            <p:spPr>
              <a:xfrm flipH="false" flipV="false" rot="0">
                <a:off x="0" y="0"/>
                <a:ext cx="20447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2044700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22" id="122"/>
              <p:cNvSpPr txBox="true"/>
              <p:nvPr/>
            </p:nvSpPr>
            <p:spPr>
              <a:xfrm>
                <a:off x="0" y="-38100"/>
                <a:ext cx="20447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3" id="123"/>
            <p:cNvSpPr txBox="true"/>
            <p:nvPr/>
          </p:nvSpPr>
          <p:spPr>
            <a:xfrm rot="0">
              <a:off x="8699500" y="2523671"/>
              <a:ext cx="20447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1,000</a:t>
              </a:r>
            </a:p>
          </p:txBody>
        </p:sp>
        <p:grpSp>
          <p:nvGrpSpPr>
            <p:cNvPr name="Group 124" id="124"/>
            <p:cNvGrpSpPr/>
            <p:nvPr/>
          </p:nvGrpSpPr>
          <p:grpSpPr>
            <a:xfrm rot="0">
              <a:off x="0" y="2982686"/>
              <a:ext cx="3175000" cy="497114"/>
              <a:chOff x="0" y="0"/>
              <a:chExt cx="3175000" cy="497114"/>
            </a:xfrm>
          </p:grpSpPr>
          <p:sp>
            <p:nvSpPr>
              <p:cNvPr name="Freeform 125" id="125"/>
              <p:cNvSpPr/>
              <p:nvPr/>
            </p:nvSpPr>
            <p:spPr>
              <a:xfrm flipH="false" flipV="false" rot="0">
                <a:off x="0" y="0"/>
                <a:ext cx="31750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3175000">
                    <a:moveTo>
                      <a:pt x="0" y="0"/>
                    </a:moveTo>
                    <a:lnTo>
                      <a:pt x="3175000" y="0"/>
                    </a:lnTo>
                    <a:lnTo>
                      <a:pt x="31750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26" id="126"/>
              <p:cNvSpPr txBox="true"/>
              <p:nvPr/>
            </p:nvSpPr>
            <p:spPr>
              <a:xfrm>
                <a:off x="0" y="-38100"/>
                <a:ext cx="31750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7" id="127"/>
            <p:cNvSpPr txBox="true"/>
            <p:nvPr/>
          </p:nvSpPr>
          <p:spPr>
            <a:xfrm rot="0">
              <a:off x="177800" y="3020786"/>
              <a:ext cx="28956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Sandal</a:t>
              </a:r>
            </a:p>
          </p:txBody>
        </p:sp>
        <p:grpSp>
          <p:nvGrpSpPr>
            <p:cNvPr name="Group 128" id="128"/>
            <p:cNvGrpSpPr/>
            <p:nvPr/>
          </p:nvGrpSpPr>
          <p:grpSpPr>
            <a:xfrm rot="0">
              <a:off x="3175000" y="2982686"/>
              <a:ext cx="1841500" cy="497114"/>
              <a:chOff x="0" y="0"/>
              <a:chExt cx="1841500" cy="497114"/>
            </a:xfrm>
          </p:grpSpPr>
          <p:sp>
            <p:nvSpPr>
              <p:cNvPr name="Freeform 129" id="129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30" id="130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1" id="131"/>
            <p:cNvSpPr txBox="true"/>
            <p:nvPr/>
          </p:nvSpPr>
          <p:spPr>
            <a:xfrm rot="0">
              <a:off x="3175000" y="3020786"/>
              <a:ext cx="18415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0.99</a:t>
              </a:r>
            </a:p>
          </p:txBody>
        </p:sp>
        <p:grpSp>
          <p:nvGrpSpPr>
            <p:cNvPr name="Group 132" id="132"/>
            <p:cNvGrpSpPr/>
            <p:nvPr/>
          </p:nvGrpSpPr>
          <p:grpSpPr>
            <a:xfrm rot="0">
              <a:off x="5016500" y="2982686"/>
              <a:ext cx="1841500" cy="497114"/>
              <a:chOff x="0" y="0"/>
              <a:chExt cx="1841500" cy="497114"/>
            </a:xfrm>
          </p:grpSpPr>
          <p:sp>
            <p:nvSpPr>
              <p:cNvPr name="Freeform 133" id="133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34" id="134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5" id="135"/>
            <p:cNvSpPr txBox="true"/>
            <p:nvPr/>
          </p:nvSpPr>
          <p:spPr>
            <a:xfrm rot="0">
              <a:off x="5016500" y="3020786"/>
              <a:ext cx="18415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0.95</a:t>
              </a:r>
            </a:p>
          </p:txBody>
        </p:sp>
        <p:grpSp>
          <p:nvGrpSpPr>
            <p:cNvPr name="Group 136" id="136"/>
            <p:cNvGrpSpPr/>
            <p:nvPr/>
          </p:nvGrpSpPr>
          <p:grpSpPr>
            <a:xfrm rot="0">
              <a:off x="6858000" y="2982686"/>
              <a:ext cx="1841500" cy="497114"/>
              <a:chOff x="0" y="0"/>
              <a:chExt cx="1841500" cy="497114"/>
            </a:xfrm>
          </p:grpSpPr>
          <p:sp>
            <p:nvSpPr>
              <p:cNvPr name="Freeform 137" id="137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38" id="138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9" id="139"/>
            <p:cNvSpPr txBox="true"/>
            <p:nvPr/>
          </p:nvSpPr>
          <p:spPr>
            <a:xfrm rot="0">
              <a:off x="6858000" y="3020786"/>
              <a:ext cx="18415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0.97</a:t>
              </a:r>
            </a:p>
          </p:txBody>
        </p:sp>
        <p:grpSp>
          <p:nvGrpSpPr>
            <p:cNvPr name="Group 140" id="140"/>
            <p:cNvGrpSpPr/>
            <p:nvPr/>
          </p:nvGrpSpPr>
          <p:grpSpPr>
            <a:xfrm rot="0">
              <a:off x="8699500" y="2982686"/>
              <a:ext cx="2044700" cy="497114"/>
              <a:chOff x="0" y="0"/>
              <a:chExt cx="2044700" cy="497114"/>
            </a:xfrm>
          </p:grpSpPr>
          <p:sp>
            <p:nvSpPr>
              <p:cNvPr name="Freeform 141" id="141"/>
              <p:cNvSpPr/>
              <p:nvPr/>
            </p:nvSpPr>
            <p:spPr>
              <a:xfrm flipH="false" flipV="false" rot="0">
                <a:off x="0" y="0"/>
                <a:ext cx="20447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2044700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42" id="142"/>
              <p:cNvSpPr txBox="true"/>
              <p:nvPr/>
            </p:nvSpPr>
            <p:spPr>
              <a:xfrm>
                <a:off x="0" y="-38100"/>
                <a:ext cx="20447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3" id="143"/>
            <p:cNvSpPr txBox="true"/>
            <p:nvPr/>
          </p:nvSpPr>
          <p:spPr>
            <a:xfrm rot="0">
              <a:off x="8699500" y="3020786"/>
              <a:ext cx="20447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1,000</a:t>
              </a:r>
            </a:p>
          </p:txBody>
        </p:sp>
        <p:grpSp>
          <p:nvGrpSpPr>
            <p:cNvPr name="Group 144" id="144"/>
            <p:cNvGrpSpPr/>
            <p:nvPr/>
          </p:nvGrpSpPr>
          <p:grpSpPr>
            <a:xfrm rot="0">
              <a:off x="0" y="3479800"/>
              <a:ext cx="3175000" cy="497114"/>
              <a:chOff x="0" y="0"/>
              <a:chExt cx="3175000" cy="497114"/>
            </a:xfrm>
          </p:grpSpPr>
          <p:sp>
            <p:nvSpPr>
              <p:cNvPr name="Freeform 145" id="145"/>
              <p:cNvSpPr/>
              <p:nvPr/>
            </p:nvSpPr>
            <p:spPr>
              <a:xfrm flipH="false" flipV="false" rot="0">
                <a:off x="0" y="0"/>
                <a:ext cx="31750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3175000">
                    <a:moveTo>
                      <a:pt x="0" y="0"/>
                    </a:moveTo>
                    <a:lnTo>
                      <a:pt x="3175000" y="0"/>
                    </a:lnTo>
                    <a:lnTo>
                      <a:pt x="31750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46" id="146"/>
              <p:cNvSpPr txBox="true"/>
              <p:nvPr/>
            </p:nvSpPr>
            <p:spPr>
              <a:xfrm>
                <a:off x="0" y="-38100"/>
                <a:ext cx="31750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7" id="147"/>
            <p:cNvSpPr txBox="true"/>
            <p:nvPr/>
          </p:nvSpPr>
          <p:spPr>
            <a:xfrm rot="0">
              <a:off x="177800" y="3517900"/>
              <a:ext cx="28956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Shirt</a:t>
              </a:r>
            </a:p>
          </p:txBody>
        </p:sp>
        <p:grpSp>
          <p:nvGrpSpPr>
            <p:cNvPr name="Group 148" id="148"/>
            <p:cNvGrpSpPr/>
            <p:nvPr/>
          </p:nvGrpSpPr>
          <p:grpSpPr>
            <a:xfrm rot="0">
              <a:off x="3175000" y="3479800"/>
              <a:ext cx="1841500" cy="497114"/>
              <a:chOff x="0" y="0"/>
              <a:chExt cx="1841500" cy="497114"/>
            </a:xfrm>
          </p:grpSpPr>
          <p:sp>
            <p:nvSpPr>
              <p:cNvPr name="Freeform 149" id="149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50" id="150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1" id="151"/>
            <p:cNvSpPr txBox="true"/>
            <p:nvPr/>
          </p:nvSpPr>
          <p:spPr>
            <a:xfrm rot="0">
              <a:off x="3175000" y="3517900"/>
              <a:ext cx="1841500" cy="276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0.69</a:t>
              </a:r>
            </a:p>
          </p:txBody>
        </p:sp>
        <p:grpSp>
          <p:nvGrpSpPr>
            <p:cNvPr name="Group 152" id="152"/>
            <p:cNvGrpSpPr/>
            <p:nvPr/>
          </p:nvGrpSpPr>
          <p:grpSpPr>
            <a:xfrm rot="0">
              <a:off x="5016500" y="3479800"/>
              <a:ext cx="1841500" cy="497114"/>
              <a:chOff x="0" y="0"/>
              <a:chExt cx="1841500" cy="497114"/>
            </a:xfrm>
          </p:grpSpPr>
          <p:sp>
            <p:nvSpPr>
              <p:cNvPr name="Freeform 153" id="153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54" id="154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5" id="155"/>
            <p:cNvSpPr txBox="true"/>
            <p:nvPr/>
          </p:nvSpPr>
          <p:spPr>
            <a:xfrm rot="0">
              <a:off x="5016500" y="3517900"/>
              <a:ext cx="18415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0.74</a:t>
              </a:r>
            </a:p>
          </p:txBody>
        </p:sp>
        <p:grpSp>
          <p:nvGrpSpPr>
            <p:cNvPr name="Group 156" id="156"/>
            <p:cNvGrpSpPr/>
            <p:nvPr/>
          </p:nvGrpSpPr>
          <p:grpSpPr>
            <a:xfrm rot="0">
              <a:off x="6858000" y="3479800"/>
              <a:ext cx="1841500" cy="497114"/>
              <a:chOff x="0" y="0"/>
              <a:chExt cx="1841500" cy="497114"/>
            </a:xfrm>
          </p:grpSpPr>
          <p:sp>
            <p:nvSpPr>
              <p:cNvPr name="Freeform 157" id="157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58" id="158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9" id="159"/>
            <p:cNvSpPr txBox="true"/>
            <p:nvPr/>
          </p:nvSpPr>
          <p:spPr>
            <a:xfrm rot="0">
              <a:off x="6858000" y="3517900"/>
              <a:ext cx="1841500" cy="276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0.72</a:t>
              </a:r>
            </a:p>
          </p:txBody>
        </p:sp>
        <p:grpSp>
          <p:nvGrpSpPr>
            <p:cNvPr name="Group 160" id="160"/>
            <p:cNvGrpSpPr/>
            <p:nvPr/>
          </p:nvGrpSpPr>
          <p:grpSpPr>
            <a:xfrm rot="0">
              <a:off x="8699500" y="3479800"/>
              <a:ext cx="2044700" cy="497114"/>
              <a:chOff x="0" y="0"/>
              <a:chExt cx="2044700" cy="497114"/>
            </a:xfrm>
          </p:grpSpPr>
          <p:sp>
            <p:nvSpPr>
              <p:cNvPr name="Freeform 161" id="161"/>
              <p:cNvSpPr/>
              <p:nvPr/>
            </p:nvSpPr>
            <p:spPr>
              <a:xfrm flipH="false" flipV="false" rot="0">
                <a:off x="0" y="0"/>
                <a:ext cx="20447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2044700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62" id="162"/>
              <p:cNvSpPr txBox="true"/>
              <p:nvPr/>
            </p:nvSpPr>
            <p:spPr>
              <a:xfrm>
                <a:off x="0" y="-38100"/>
                <a:ext cx="20447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3" id="163"/>
            <p:cNvSpPr txBox="true"/>
            <p:nvPr/>
          </p:nvSpPr>
          <p:spPr>
            <a:xfrm rot="0">
              <a:off x="8699500" y="3517900"/>
              <a:ext cx="20447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1,000</a:t>
              </a:r>
            </a:p>
          </p:txBody>
        </p:sp>
        <p:grpSp>
          <p:nvGrpSpPr>
            <p:cNvPr name="Group 164" id="164"/>
            <p:cNvGrpSpPr/>
            <p:nvPr/>
          </p:nvGrpSpPr>
          <p:grpSpPr>
            <a:xfrm rot="0">
              <a:off x="0" y="3976914"/>
              <a:ext cx="3175000" cy="497114"/>
              <a:chOff x="0" y="0"/>
              <a:chExt cx="3175000" cy="497114"/>
            </a:xfrm>
          </p:grpSpPr>
          <p:sp>
            <p:nvSpPr>
              <p:cNvPr name="Freeform 165" id="165"/>
              <p:cNvSpPr/>
              <p:nvPr/>
            </p:nvSpPr>
            <p:spPr>
              <a:xfrm flipH="false" flipV="false" rot="0">
                <a:off x="0" y="0"/>
                <a:ext cx="31750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3175000">
                    <a:moveTo>
                      <a:pt x="0" y="0"/>
                    </a:moveTo>
                    <a:lnTo>
                      <a:pt x="3175000" y="0"/>
                    </a:lnTo>
                    <a:lnTo>
                      <a:pt x="31750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66" id="166"/>
              <p:cNvSpPr txBox="true"/>
              <p:nvPr/>
            </p:nvSpPr>
            <p:spPr>
              <a:xfrm>
                <a:off x="0" y="-38100"/>
                <a:ext cx="31750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7" id="167"/>
            <p:cNvSpPr txBox="true"/>
            <p:nvPr/>
          </p:nvSpPr>
          <p:spPr>
            <a:xfrm rot="0">
              <a:off x="177800" y="4015014"/>
              <a:ext cx="28956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Sneaker</a:t>
              </a:r>
            </a:p>
          </p:txBody>
        </p:sp>
        <p:grpSp>
          <p:nvGrpSpPr>
            <p:cNvPr name="Group 168" id="168"/>
            <p:cNvGrpSpPr/>
            <p:nvPr/>
          </p:nvGrpSpPr>
          <p:grpSpPr>
            <a:xfrm rot="0">
              <a:off x="3175000" y="3976914"/>
              <a:ext cx="1841500" cy="497114"/>
              <a:chOff x="0" y="0"/>
              <a:chExt cx="1841500" cy="497114"/>
            </a:xfrm>
          </p:grpSpPr>
          <p:sp>
            <p:nvSpPr>
              <p:cNvPr name="Freeform 169" id="169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70" id="170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1" id="171"/>
            <p:cNvSpPr txBox="true"/>
            <p:nvPr/>
          </p:nvSpPr>
          <p:spPr>
            <a:xfrm rot="0">
              <a:off x="3175000" y="4015014"/>
              <a:ext cx="18415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0.91</a:t>
              </a:r>
            </a:p>
          </p:txBody>
        </p:sp>
        <p:grpSp>
          <p:nvGrpSpPr>
            <p:cNvPr name="Group 172" id="172"/>
            <p:cNvGrpSpPr/>
            <p:nvPr/>
          </p:nvGrpSpPr>
          <p:grpSpPr>
            <a:xfrm rot="0">
              <a:off x="5016500" y="3976914"/>
              <a:ext cx="1841500" cy="497114"/>
              <a:chOff x="0" y="0"/>
              <a:chExt cx="1841500" cy="497114"/>
            </a:xfrm>
          </p:grpSpPr>
          <p:sp>
            <p:nvSpPr>
              <p:cNvPr name="Freeform 173" id="173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74" id="174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5" id="175"/>
            <p:cNvSpPr txBox="true"/>
            <p:nvPr/>
          </p:nvSpPr>
          <p:spPr>
            <a:xfrm rot="0">
              <a:off x="5016500" y="4015014"/>
              <a:ext cx="18415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0.98</a:t>
              </a:r>
            </a:p>
          </p:txBody>
        </p:sp>
        <p:grpSp>
          <p:nvGrpSpPr>
            <p:cNvPr name="Group 176" id="176"/>
            <p:cNvGrpSpPr/>
            <p:nvPr/>
          </p:nvGrpSpPr>
          <p:grpSpPr>
            <a:xfrm rot="0">
              <a:off x="6858000" y="3976914"/>
              <a:ext cx="1841500" cy="497114"/>
              <a:chOff x="0" y="0"/>
              <a:chExt cx="1841500" cy="497114"/>
            </a:xfrm>
          </p:grpSpPr>
          <p:sp>
            <p:nvSpPr>
              <p:cNvPr name="Freeform 177" id="177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78" id="178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9" id="179"/>
            <p:cNvSpPr txBox="true"/>
            <p:nvPr/>
          </p:nvSpPr>
          <p:spPr>
            <a:xfrm rot="0">
              <a:off x="6858000" y="4015014"/>
              <a:ext cx="18415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0.94</a:t>
              </a:r>
            </a:p>
          </p:txBody>
        </p:sp>
        <p:grpSp>
          <p:nvGrpSpPr>
            <p:cNvPr name="Group 180" id="180"/>
            <p:cNvGrpSpPr/>
            <p:nvPr/>
          </p:nvGrpSpPr>
          <p:grpSpPr>
            <a:xfrm rot="0">
              <a:off x="8699500" y="3976914"/>
              <a:ext cx="2044700" cy="497114"/>
              <a:chOff x="0" y="0"/>
              <a:chExt cx="2044700" cy="497114"/>
            </a:xfrm>
          </p:grpSpPr>
          <p:sp>
            <p:nvSpPr>
              <p:cNvPr name="Freeform 181" id="181"/>
              <p:cNvSpPr/>
              <p:nvPr/>
            </p:nvSpPr>
            <p:spPr>
              <a:xfrm flipH="false" flipV="false" rot="0">
                <a:off x="0" y="0"/>
                <a:ext cx="20447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2044700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82" id="182"/>
              <p:cNvSpPr txBox="true"/>
              <p:nvPr/>
            </p:nvSpPr>
            <p:spPr>
              <a:xfrm>
                <a:off x="0" y="-38100"/>
                <a:ext cx="20447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3" id="183"/>
            <p:cNvSpPr txBox="true"/>
            <p:nvPr/>
          </p:nvSpPr>
          <p:spPr>
            <a:xfrm rot="0">
              <a:off x="8699500" y="4015014"/>
              <a:ext cx="20447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1,000</a:t>
              </a:r>
            </a:p>
          </p:txBody>
        </p:sp>
        <p:grpSp>
          <p:nvGrpSpPr>
            <p:cNvPr name="Group 184" id="184"/>
            <p:cNvGrpSpPr/>
            <p:nvPr/>
          </p:nvGrpSpPr>
          <p:grpSpPr>
            <a:xfrm rot="0">
              <a:off x="0" y="4474029"/>
              <a:ext cx="3175000" cy="497114"/>
              <a:chOff x="0" y="0"/>
              <a:chExt cx="3175000" cy="497114"/>
            </a:xfrm>
          </p:grpSpPr>
          <p:sp>
            <p:nvSpPr>
              <p:cNvPr name="Freeform 185" id="185"/>
              <p:cNvSpPr/>
              <p:nvPr/>
            </p:nvSpPr>
            <p:spPr>
              <a:xfrm flipH="false" flipV="false" rot="0">
                <a:off x="0" y="0"/>
                <a:ext cx="31750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3175000">
                    <a:moveTo>
                      <a:pt x="0" y="0"/>
                    </a:moveTo>
                    <a:lnTo>
                      <a:pt x="3175000" y="0"/>
                    </a:lnTo>
                    <a:lnTo>
                      <a:pt x="31750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86" id="186"/>
              <p:cNvSpPr txBox="true"/>
              <p:nvPr/>
            </p:nvSpPr>
            <p:spPr>
              <a:xfrm>
                <a:off x="0" y="-38100"/>
                <a:ext cx="31750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7" id="187"/>
            <p:cNvSpPr txBox="true"/>
            <p:nvPr/>
          </p:nvSpPr>
          <p:spPr>
            <a:xfrm rot="0">
              <a:off x="177800" y="4512129"/>
              <a:ext cx="28956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Bag</a:t>
              </a:r>
            </a:p>
          </p:txBody>
        </p:sp>
        <p:grpSp>
          <p:nvGrpSpPr>
            <p:cNvPr name="Group 188" id="188"/>
            <p:cNvGrpSpPr/>
            <p:nvPr/>
          </p:nvGrpSpPr>
          <p:grpSpPr>
            <a:xfrm rot="0">
              <a:off x="3175000" y="4474029"/>
              <a:ext cx="1841500" cy="497114"/>
              <a:chOff x="0" y="0"/>
              <a:chExt cx="1841500" cy="497114"/>
            </a:xfrm>
          </p:grpSpPr>
          <p:sp>
            <p:nvSpPr>
              <p:cNvPr name="Freeform 189" id="189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90" id="190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1" id="191"/>
            <p:cNvSpPr txBox="true"/>
            <p:nvPr/>
          </p:nvSpPr>
          <p:spPr>
            <a:xfrm rot="0">
              <a:off x="3175000" y="4512129"/>
              <a:ext cx="1841500" cy="276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0.97</a:t>
              </a:r>
            </a:p>
          </p:txBody>
        </p:sp>
        <p:grpSp>
          <p:nvGrpSpPr>
            <p:cNvPr name="Group 192" id="192"/>
            <p:cNvGrpSpPr/>
            <p:nvPr/>
          </p:nvGrpSpPr>
          <p:grpSpPr>
            <a:xfrm rot="0">
              <a:off x="5016500" y="4474029"/>
              <a:ext cx="1841500" cy="497114"/>
              <a:chOff x="0" y="0"/>
              <a:chExt cx="1841500" cy="497114"/>
            </a:xfrm>
          </p:grpSpPr>
          <p:sp>
            <p:nvSpPr>
              <p:cNvPr name="Freeform 193" id="193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94" id="194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5" id="195"/>
            <p:cNvSpPr txBox="true"/>
            <p:nvPr/>
          </p:nvSpPr>
          <p:spPr>
            <a:xfrm rot="0">
              <a:off x="5016500" y="4512129"/>
              <a:ext cx="18415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0.97</a:t>
              </a:r>
            </a:p>
          </p:txBody>
        </p:sp>
        <p:grpSp>
          <p:nvGrpSpPr>
            <p:cNvPr name="Group 196" id="196"/>
            <p:cNvGrpSpPr/>
            <p:nvPr/>
          </p:nvGrpSpPr>
          <p:grpSpPr>
            <a:xfrm rot="0">
              <a:off x="6858000" y="4474029"/>
              <a:ext cx="1841500" cy="497114"/>
              <a:chOff x="0" y="0"/>
              <a:chExt cx="1841500" cy="497114"/>
            </a:xfrm>
          </p:grpSpPr>
          <p:sp>
            <p:nvSpPr>
              <p:cNvPr name="Freeform 197" id="197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198" id="198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9" id="199"/>
            <p:cNvSpPr txBox="true"/>
            <p:nvPr/>
          </p:nvSpPr>
          <p:spPr>
            <a:xfrm rot="0">
              <a:off x="6858000" y="4512129"/>
              <a:ext cx="18415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0.97</a:t>
              </a:r>
            </a:p>
          </p:txBody>
        </p:sp>
        <p:grpSp>
          <p:nvGrpSpPr>
            <p:cNvPr name="Group 200" id="200"/>
            <p:cNvGrpSpPr/>
            <p:nvPr/>
          </p:nvGrpSpPr>
          <p:grpSpPr>
            <a:xfrm rot="0">
              <a:off x="8699500" y="4474029"/>
              <a:ext cx="2044700" cy="497114"/>
              <a:chOff x="0" y="0"/>
              <a:chExt cx="2044700" cy="497114"/>
            </a:xfrm>
          </p:grpSpPr>
          <p:sp>
            <p:nvSpPr>
              <p:cNvPr name="Freeform 201" id="201"/>
              <p:cNvSpPr/>
              <p:nvPr/>
            </p:nvSpPr>
            <p:spPr>
              <a:xfrm flipH="false" flipV="false" rot="0">
                <a:off x="0" y="0"/>
                <a:ext cx="20447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2044700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202" id="202"/>
              <p:cNvSpPr txBox="true"/>
              <p:nvPr/>
            </p:nvSpPr>
            <p:spPr>
              <a:xfrm>
                <a:off x="0" y="-38100"/>
                <a:ext cx="20447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3" id="203"/>
            <p:cNvSpPr txBox="true"/>
            <p:nvPr/>
          </p:nvSpPr>
          <p:spPr>
            <a:xfrm rot="0">
              <a:off x="8699500" y="4512129"/>
              <a:ext cx="20447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1,000</a:t>
              </a:r>
            </a:p>
          </p:txBody>
        </p:sp>
        <p:grpSp>
          <p:nvGrpSpPr>
            <p:cNvPr name="Group 204" id="204"/>
            <p:cNvGrpSpPr/>
            <p:nvPr/>
          </p:nvGrpSpPr>
          <p:grpSpPr>
            <a:xfrm rot="0">
              <a:off x="0" y="4971143"/>
              <a:ext cx="3175000" cy="497114"/>
              <a:chOff x="0" y="0"/>
              <a:chExt cx="3175000" cy="497114"/>
            </a:xfrm>
          </p:grpSpPr>
          <p:sp>
            <p:nvSpPr>
              <p:cNvPr name="Freeform 205" id="205"/>
              <p:cNvSpPr/>
              <p:nvPr/>
            </p:nvSpPr>
            <p:spPr>
              <a:xfrm flipH="false" flipV="false" rot="0">
                <a:off x="0" y="0"/>
                <a:ext cx="31750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3175000">
                    <a:moveTo>
                      <a:pt x="0" y="0"/>
                    </a:moveTo>
                    <a:lnTo>
                      <a:pt x="3175000" y="0"/>
                    </a:lnTo>
                    <a:lnTo>
                      <a:pt x="31750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206" id="206"/>
              <p:cNvSpPr txBox="true"/>
              <p:nvPr/>
            </p:nvSpPr>
            <p:spPr>
              <a:xfrm>
                <a:off x="0" y="-38100"/>
                <a:ext cx="31750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7" id="207"/>
            <p:cNvSpPr txBox="true"/>
            <p:nvPr/>
          </p:nvSpPr>
          <p:spPr>
            <a:xfrm rot="0">
              <a:off x="177800" y="5009243"/>
              <a:ext cx="28956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Ankle boot</a:t>
              </a:r>
            </a:p>
          </p:txBody>
        </p:sp>
        <p:grpSp>
          <p:nvGrpSpPr>
            <p:cNvPr name="Group 208" id="208"/>
            <p:cNvGrpSpPr/>
            <p:nvPr/>
          </p:nvGrpSpPr>
          <p:grpSpPr>
            <a:xfrm rot="0">
              <a:off x="3175000" y="4971143"/>
              <a:ext cx="1841500" cy="497114"/>
              <a:chOff x="0" y="0"/>
              <a:chExt cx="1841500" cy="497114"/>
            </a:xfrm>
          </p:grpSpPr>
          <p:sp>
            <p:nvSpPr>
              <p:cNvPr name="Freeform 209" id="209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210" id="210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1" id="211"/>
            <p:cNvSpPr txBox="true"/>
            <p:nvPr/>
          </p:nvSpPr>
          <p:spPr>
            <a:xfrm rot="0">
              <a:off x="3175000" y="5009243"/>
              <a:ext cx="18415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0.97</a:t>
              </a:r>
            </a:p>
          </p:txBody>
        </p:sp>
        <p:grpSp>
          <p:nvGrpSpPr>
            <p:cNvPr name="Group 212" id="212"/>
            <p:cNvGrpSpPr/>
            <p:nvPr/>
          </p:nvGrpSpPr>
          <p:grpSpPr>
            <a:xfrm rot="0">
              <a:off x="5016500" y="4971143"/>
              <a:ext cx="1841500" cy="497114"/>
              <a:chOff x="0" y="0"/>
              <a:chExt cx="1841500" cy="497114"/>
            </a:xfrm>
          </p:grpSpPr>
          <p:sp>
            <p:nvSpPr>
              <p:cNvPr name="Freeform 213" id="213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214" id="214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5" id="215"/>
            <p:cNvSpPr txBox="true"/>
            <p:nvPr/>
          </p:nvSpPr>
          <p:spPr>
            <a:xfrm rot="0">
              <a:off x="5016500" y="5009243"/>
              <a:ext cx="18415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0.93</a:t>
              </a:r>
            </a:p>
          </p:txBody>
        </p:sp>
        <p:grpSp>
          <p:nvGrpSpPr>
            <p:cNvPr name="Group 216" id="216"/>
            <p:cNvGrpSpPr/>
            <p:nvPr/>
          </p:nvGrpSpPr>
          <p:grpSpPr>
            <a:xfrm rot="0">
              <a:off x="6858000" y="4971143"/>
              <a:ext cx="1841500" cy="497114"/>
              <a:chOff x="0" y="0"/>
              <a:chExt cx="1841500" cy="497114"/>
            </a:xfrm>
          </p:grpSpPr>
          <p:sp>
            <p:nvSpPr>
              <p:cNvPr name="Freeform 217" id="217"/>
              <p:cNvSpPr/>
              <p:nvPr/>
            </p:nvSpPr>
            <p:spPr>
              <a:xfrm flipH="false" flipV="false" rot="0">
                <a:off x="0" y="0"/>
                <a:ext cx="18415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841500">
                    <a:moveTo>
                      <a:pt x="0" y="0"/>
                    </a:moveTo>
                    <a:lnTo>
                      <a:pt x="1841500" y="0"/>
                    </a:lnTo>
                    <a:lnTo>
                      <a:pt x="18415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218" id="218"/>
              <p:cNvSpPr txBox="true"/>
              <p:nvPr/>
            </p:nvSpPr>
            <p:spPr>
              <a:xfrm>
                <a:off x="0" y="-38100"/>
                <a:ext cx="18415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9" id="219"/>
            <p:cNvSpPr txBox="true"/>
            <p:nvPr/>
          </p:nvSpPr>
          <p:spPr>
            <a:xfrm rot="0">
              <a:off x="6858000" y="5009243"/>
              <a:ext cx="18415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0.95</a:t>
              </a:r>
            </a:p>
          </p:txBody>
        </p:sp>
        <p:grpSp>
          <p:nvGrpSpPr>
            <p:cNvPr name="Group 220" id="220"/>
            <p:cNvGrpSpPr/>
            <p:nvPr/>
          </p:nvGrpSpPr>
          <p:grpSpPr>
            <a:xfrm rot="0">
              <a:off x="8699500" y="4971143"/>
              <a:ext cx="2044700" cy="497114"/>
              <a:chOff x="0" y="0"/>
              <a:chExt cx="2044700" cy="497114"/>
            </a:xfrm>
          </p:grpSpPr>
          <p:sp>
            <p:nvSpPr>
              <p:cNvPr name="Freeform 221" id="221"/>
              <p:cNvSpPr/>
              <p:nvPr/>
            </p:nvSpPr>
            <p:spPr>
              <a:xfrm flipH="false" flipV="false" rot="0">
                <a:off x="0" y="0"/>
                <a:ext cx="2044700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2044700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222" id="222"/>
              <p:cNvSpPr txBox="true"/>
              <p:nvPr/>
            </p:nvSpPr>
            <p:spPr>
              <a:xfrm>
                <a:off x="0" y="-38100"/>
                <a:ext cx="2044700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3" id="223"/>
            <p:cNvSpPr txBox="true"/>
            <p:nvPr/>
          </p:nvSpPr>
          <p:spPr>
            <a:xfrm rot="0">
              <a:off x="8699500" y="5009243"/>
              <a:ext cx="2044700" cy="276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B9D5E6"/>
                  </a:solidFill>
                  <a:latin typeface="Telegraf"/>
                  <a:ea typeface="Telegraf"/>
                  <a:cs typeface="Telegraf"/>
                  <a:sym typeface="Telegraf"/>
                </a:rPr>
                <a:t>1,000</a:t>
              </a:r>
            </a:p>
          </p:txBody>
        </p:sp>
      </p:grpSp>
      <p:grpSp>
        <p:nvGrpSpPr>
          <p:cNvPr name="Group 224" id="224"/>
          <p:cNvGrpSpPr/>
          <p:nvPr/>
        </p:nvGrpSpPr>
        <p:grpSpPr>
          <a:xfrm rot="0">
            <a:off x="876300" y="8463643"/>
            <a:ext cx="8058150" cy="1223522"/>
            <a:chOff x="0" y="0"/>
            <a:chExt cx="10744200" cy="1631363"/>
          </a:xfrm>
        </p:grpSpPr>
        <p:grpSp>
          <p:nvGrpSpPr>
            <p:cNvPr name="Group 225" id="225"/>
            <p:cNvGrpSpPr/>
            <p:nvPr/>
          </p:nvGrpSpPr>
          <p:grpSpPr>
            <a:xfrm rot="0">
              <a:off x="0" y="0"/>
              <a:ext cx="10744200" cy="1631363"/>
              <a:chOff x="0" y="0"/>
              <a:chExt cx="10313096" cy="1565905"/>
            </a:xfrm>
          </p:grpSpPr>
          <p:sp>
            <p:nvSpPr>
              <p:cNvPr name="Freeform 226" id="226"/>
              <p:cNvSpPr/>
              <p:nvPr/>
            </p:nvSpPr>
            <p:spPr>
              <a:xfrm flipH="false" flipV="false" rot="0">
                <a:off x="0" y="0"/>
                <a:ext cx="10313096" cy="1565905"/>
              </a:xfrm>
              <a:custGeom>
                <a:avLst/>
                <a:gdLst/>
                <a:ahLst/>
                <a:cxnLst/>
                <a:rect r="r" b="b" t="t" l="l"/>
                <a:pathLst>
                  <a:path h="1565905" w="10313096">
                    <a:moveTo>
                      <a:pt x="121904" y="0"/>
                    </a:moveTo>
                    <a:lnTo>
                      <a:pt x="10191192" y="0"/>
                    </a:lnTo>
                    <a:cubicBezTo>
                      <a:pt x="10258517" y="0"/>
                      <a:pt x="10313096" y="12793"/>
                      <a:pt x="10313096" y="28575"/>
                    </a:cubicBezTo>
                    <a:lnTo>
                      <a:pt x="10313096" y="1537330"/>
                    </a:lnTo>
                    <a:cubicBezTo>
                      <a:pt x="10313096" y="1553112"/>
                      <a:pt x="10258517" y="1565905"/>
                      <a:pt x="10191192" y="1565905"/>
                    </a:cubicBezTo>
                    <a:lnTo>
                      <a:pt x="121904" y="1565905"/>
                    </a:lnTo>
                    <a:cubicBezTo>
                      <a:pt x="54578" y="1565905"/>
                      <a:pt x="0" y="1553112"/>
                      <a:pt x="0" y="1537330"/>
                    </a:cubicBezTo>
                    <a:lnTo>
                      <a:pt x="0" y="28575"/>
                    </a:lnTo>
                    <a:cubicBezTo>
                      <a:pt x="0" y="12793"/>
                      <a:pt x="54578" y="0"/>
                      <a:pt x="121904" y="0"/>
                    </a:cubicBezTo>
                    <a:close/>
                  </a:path>
                </a:pathLst>
              </a:custGeom>
              <a:solidFill>
                <a:srgbClr val="071522"/>
              </a:solidFill>
              <a:ln w="19050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227" id="227"/>
              <p:cNvSpPr txBox="true"/>
              <p:nvPr/>
            </p:nvSpPr>
            <p:spPr>
              <a:xfrm>
                <a:off x="0" y="-38100"/>
                <a:ext cx="10313096" cy="16040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28" id="228"/>
            <p:cNvGrpSpPr/>
            <p:nvPr/>
          </p:nvGrpSpPr>
          <p:grpSpPr>
            <a:xfrm rot="0">
              <a:off x="0" y="77679"/>
              <a:ext cx="3175000" cy="517894"/>
              <a:chOff x="0" y="0"/>
              <a:chExt cx="3047605" cy="497114"/>
            </a:xfrm>
          </p:grpSpPr>
          <p:sp>
            <p:nvSpPr>
              <p:cNvPr name="Freeform 229" id="229"/>
              <p:cNvSpPr/>
              <p:nvPr/>
            </p:nvSpPr>
            <p:spPr>
              <a:xfrm flipH="false" flipV="false" rot="0">
                <a:off x="0" y="0"/>
                <a:ext cx="3047605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3047605">
                    <a:moveTo>
                      <a:pt x="0" y="0"/>
                    </a:moveTo>
                    <a:lnTo>
                      <a:pt x="3047605" y="0"/>
                    </a:lnTo>
                    <a:lnTo>
                      <a:pt x="3047605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230" id="230"/>
              <p:cNvSpPr txBox="true"/>
              <p:nvPr/>
            </p:nvSpPr>
            <p:spPr>
              <a:xfrm>
                <a:off x="0" y="-38100"/>
                <a:ext cx="3047605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1" id="231"/>
            <p:cNvSpPr txBox="true"/>
            <p:nvPr/>
          </p:nvSpPr>
          <p:spPr>
            <a:xfrm rot="0">
              <a:off x="177800" y="109439"/>
              <a:ext cx="2895600" cy="296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50"/>
                </a:lnSpc>
              </a:pPr>
              <a:r>
                <a:rPr lang="en-US" sz="1250" b="true">
                  <a:solidFill>
                    <a:srgbClr val="B9D5E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Accuracy</a:t>
              </a:r>
            </a:p>
          </p:txBody>
        </p:sp>
        <p:grpSp>
          <p:nvGrpSpPr>
            <p:cNvPr name="Group 232" id="232"/>
            <p:cNvGrpSpPr/>
            <p:nvPr/>
          </p:nvGrpSpPr>
          <p:grpSpPr>
            <a:xfrm rot="0">
              <a:off x="3175000" y="77679"/>
              <a:ext cx="1841500" cy="517894"/>
              <a:chOff x="0" y="0"/>
              <a:chExt cx="1767611" cy="497114"/>
            </a:xfrm>
          </p:grpSpPr>
          <p:sp>
            <p:nvSpPr>
              <p:cNvPr name="Freeform 233" id="233"/>
              <p:cNvSpPr/>
              <p:nvPr/>
            </p:nvSpPr>
            <p:spPr>
              <a:xfrm flipH="false" flipV="false" rot="0">
                <a:off x="0" y="0"/>
                <a:ext cx="1767611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767611">
                    <a:moveTo>
                      <a:pt x="0" y="0"/>
                    </a:moveTo>
                    <a:lnTo>
                      <a:pt x="1767611" y="0"/>
                    </a:lnTo>
                    <a:lnTo>
                      <a:pt x="1767611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234" id="234"/>
              <p:cNvSpPr txBox="true"/>
              <p:nvPr/>
            </p:nvSpPr>
            <p:spPr>
              <a:xfrm>
                <a:off x="0" y="-38100"/>
                <a:ext cx="1767611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5" id="235"/>
            <p:cNvSpPr txBox="true"/>
            <p:nvPr/>
          </p:nvSpPr>
          <p:spPr>
            <a:xfrm rot="0">
              <a:off x="3175000" y="109439"/>
              <a:ext cx="1841500" cy="296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0"/>
                </a:lnSpc>
              </a:pPr>
              <a:r>
                <a:rPr lang="en-US" sz="1250" b="true">
                  <a:solidFill>
                    <a:srgbClr val="B9D5E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—</a:t>
              </a:r>
            </a:p>
          </p:txBody>
        </p:sp>
        <p:grpSp>
          <p:nvGrpSpPr>
            <p:cNvPr name="Group 236" id="236"/>
            <p:cNvGrpSpPr/>
            <p:nvPr/>
          </p:nvGrpSpPr>
          <p:grpSpPr>
            <a:xfrm rot="0">
              <a:off x="5016500" y="77679"/>
              <a:ext cx="1841500" cy="517894"/>
              <a:chOff x="0" y="0"/>
              <a:chExt cx="1767611" cy="497114"/>
            </a:xfrm>
          </p:grpSpPr>
          <p:sp>
            <p:nvSpPr>
              <p:cNvPr name="Freeform 237" id="237"/>
              <p:cNvSpPr/>
              <p:nvPr/>
            </p:nvSpPr>
            <p:spPr>
              <a:xfrm flipH="false" flipV="false" rot="0">
                <a:off x="0" y="0"/>
                <a:ext cx="1767611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767611">
                    <a:moveTo>
                      <a:pt x="0" y="0"/>
                    </a:moveTo>
                    <a:lnTo>
                      <a:pt x="1767611" y="0"/>
                    </a:lnTo>
                    <a:lnTo>
                      <a:pt x="1767611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238" id="238"/>
              <p:cNvSpPr txBox="true"/>
              <p:nvPr/>
            </p:nvSpPr>
            <p:spPr>
              <a:xfrm>
                <a:off x="0" y="-38100"/>
                <a:ext cx="1767611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9" id="239"/>
            <p:cNvSpPr txBox="true"/>
            <p:nvPr/>
          </p:nvSpPr>
          <p:spPr>
            <a:xfrm rot="0">
              <a:off x="5016500" y="109439"/>
              <a:ext cx="1841500" cy="296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0"/>
                </a:lnSpc>
              </a:pPr>
              <a:r>
                <a:rPr lang="en-US" sz="1250" b="true">
                  <a:solidFill>
                    <a:srgbClr val="B9D5E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—</a:t>
              </a:r>
            </a:p>
          </p:txBody>
        </p:sp>
        <p:grpSp>
          <p:nvGrpSpPr>
            <p:cNvPr name="Group 240" id="240"/>
            <p:cNvGrpSpPr/>
            <p:nvPr/>
          </p:nvGrpSpPr>
          <p:grpSpPr>
            <a:xfrm rot="0">
              <a:off x="6858000" y="77679"/>
              <a:ext cx="1841500" cy="517894"/>
              <a:chOff x="0" y="0"/>
              <a:chExt cx="1767611" cy="497114"/>
            </a:xfrm>
          </p:grpSpPr>
          <p:sp>
            <p:nvSpPr>
              <p:cNvPr name="Freeform 241" id="241"/>
              <p:cNvSpPr/>
              <p:nvPr/>
            </p:nvSpPr>
            <p:spPr>
              <a:xfrm flipH="false" flipV="false" rot="0">
                <a:off x="0" y="0"/>
                <a:ext cx="1767611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767611">
                    <a:moveTo>
                      <a:pt x="0" y="0"/>
                    </a:moveTo>
                    <a:lnTo>
                      <a:pt x="1767611" y="0"/>
                    </a:lnTo>
                    <a:lnTo>
                      <a:pt x="1767611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242" id="242"/>
              <p:cNvSpPr txBox="true"/>
              <p:nvPr/>
            </p:nvSpPr>
            <p:spPr>
              <a:xfrm>
                <a:off x="0" y="-38100"/>
                <a:ext cx="1767611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3" id="243"/>
            <p:cNvSpPr txBox="true"/>
            <p:nvPr/>
          </p:nvSpPr>
          <p:spPr>
            <a:xfrm rot="0">
              <a:off x="6858000" y="109439"/>
              <a:ext cx="1841500" cy="296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0"/>
                </a:lnSpc>
              </a:pPr>
              <a:r>
                <a:rPr lang="en-US" sz="1250" b="true">
                  <a:solidFill>
                    <a:srgbClr val="B9D5E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0.89</a:t>
              </a:r>
            </a:p>
          </p:txBody>
        </p:sp>
        <p:grpSp>
          <p:nvGrpSpPr>
            <p:cNvPr name="Group 244" id="244"/>
            <p:cNvGrpSpPr/>
            <p:nvPr/>
          </p:nvGrpSpPr>
          <p:grpSpPr>
            <a:xfrm rot="0">
              <a:off x="8699500" y="77679"/>
              <a:ext cx="2044700" cy="517894"/>
              <a:chOff x="0" y="0"/>
              <a:chExt cx="1962658" cy="497114"/>
            </a:xfrm>
          </p:grpSpPr>
          <p:sp>
            <p:nvSpPr>
              <p:cNvPr name="Freeform 245" id="245"/>
              <p:cNvSpPr/>
              <p:nvPr/>
            </p:nvSpPr>
            <p:spPr>
              <a:xfrm flipH="false" flipV="false" rot="0">
                <a:off x="0" y="0"/>
                <a:ext cx="1962658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962658">
                    <a:moveTo>
                      <a:pt x="0" y="0"/>
                    </a:moveTo>
                    <a:lnTo>
                      <a:pt x="1962658" y="0"/>
                    </a:lnTo>
                    <a:lnTo>
                      <a:pt x="1962658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246" id="246"/>
              <p:cNvSpPr txBox="true"/>
              <p:nvPr/>
            </p:nvSpPr>
            <p:spPr>
              <a:xfrm>
                <a:off x="0" y="-38100"/>
                <a:ext cx="1962658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7" id="247"/>
            <p:cNvSpPr txBox="true"/>
            <p:nvPr/>
          </p:nvSpPr>
          <p:spPr>
            <a:xfrm rot="0">
              <a:off x="8699500" y="109439"/>
              <a:ext cx="2044700" cy="296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0"/>
                </a:lnSpc>
              </a:pPr>
              <a:r>
                <a:rPr lang="en-US" sz="1250" b="true">
                  <a:solidFill>
                    <a:srgbClr val="B9D5E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10,000</a:t>
              </a:r>
            </a:p>
          </p:txBody>
        </p:sp>
        <p:grpSp>
          <p:nvGrpSpPr>
            <p:cNvPr name="Group 248" id="248"/>
            <p:cNvGrpSpPr/>
            <p:nvPr/>
          </p:nvGrpSpPr>
          <p:grpSpPr>
            <a:xfrm rot="0">
              <a:off x="0" y="595574"/>
              <a:ext cx="3175000" cy="517894"/>
              <a:chOff x="0" y="0"/>
              <a:chExt cx="3047605" cy="497114"/>
            </a:xfrm>
          </p:grpSpPr>
          <p:sp>
            <p:nvSpPr>
              <p:cNvPr name="Freeform 249" id="249"/>
              <p:cNvSpPr/>
              <p:nvPr/>
            </p:nvSpPr>
            <p:spPr>
              <a:xfrm flipH="false" flipV="false" rot="0">
                <a:off x="0" y="0"/>
                <a:ext cx="3047605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3047605">
                    <a:moveTo>
                      <a:pt x="0" y="0"/>
                    </a:moveTo>
                    <a:lnTo>
                      <a:pt x="3047605" y="0"/>
                    </a:lnTo>
                    <a:lnTo>
                      <a:pt x="3047605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250" id="250"/>
              <p:cNvSpPr txBox="true"/>
              <p:nvPr/>
            </p:nvSpPr>
            <p:spPr>
              <a:xfrm>
                <a:off x="0" y="-38100"/>
                <a:ext cx="3047605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1" id="251"/>
            <p:cNvSpPr txBox="true"/>
            <p:nvPr/>
          </p:nvSpPr>
          <p:spPr>
            <a:xfrm rot="0">
              <a:off x="177800" y="627334"/>
              <a:ext cx="2895600" cy="296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50"/>
                </a:lnSpc>
              </a:pPr>
              <a:r>
                <a:rPr lang="en-US" sz="1250" b="true">
                  <a:solidFill>
                    <a:srgbClr val="B9D5E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Macro avg</a:t>
              </a:r>
            </a:p>
          </p:txBody>
        </p:sp>
        <p:grpSp>
          <p:nvGrpSpPr>
            <p:cNvPr name="Group 252" id="252"/>
            <p:cNvGrpSpPr/>
            <p:nvPr/>
          </p:nvGrpSpPr>
          <p:grpSpPr>
            <a:xfrm rot="0">
              <a:off x="3175000" y="595574"/>
              <a:ext cx="1841500" cy="517894"/>
              <a:chOff x="0" y="0"/>
              <a:chExt cx="1767611" cy="497114"/>
            </a:xfrm>
          </p:grpSpPr>
          <p:sp>
            <p:nvSpPr>
              <p:cNvPr name="Freeform 253" id="253"/>
              <p:cNvSpPr/>
              <p:nvPr/>
            </p:nvSpPr>
            <p:spPr>
              <a:xfrm flipH="false" flipV="false" rot="0">
                <a:off x="0" y="0"/>
                <a:ext cx="1767611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767611">
                    <a:moveTo>
                      <a:pt x="0" y="0"/>
                    </a:moveTo>
                    <a:lnTo>
                      <a:pt x="1767611" y="0"/>
                    </a:lnTo>
                    <a:lnTo>
                      <a:pt x="1767611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254" id="254"/>
              <p:cNvSpPr txBox="true"/>
              <p:nvPr/>
            </p:nvSpPr>
            <p:spPr>
              <a:xfrm>
                <a:off x="0" y="-38100"/>
                <a:ext cx="1767611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5" id="255"/>
            <p:cNvSpPr txBox="true"/>
            <p:nvPr/>
          </p:nvSpPr>
          <p:spPr>
            <a:xfrm rot="0">
              <a:off x="3175000" y="627334"/>
              <a:ext cx="1841500" cy="296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0"/>
                </a:lnSpc>
              </a:pPr>
              <a:r>
                <a:rPr lang="en-US" sz="1250" b="true">
                  <a:solidFill>
                    <a:srgbClr val="B9D5E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0.89</a:t>
              </a:r>
            </a:p>
          </p:txBody>
        </p:sp>
        <p:grpSp>
          <p:nvGrpSpPr>
            <p:cNvPr name="Group 256" id="256"/>
            <p:cNvGrpSpPr/>
            <p:nvPr/>
          </p:nvGrpSpPr>
          <p:grpSpPr>
            <a:xfrm rot="0">
              <a:off x="5016500" y="595574"/>
              <a:ext cx="1841500" cy="517894"/>
              <a:chOff x="0" y="0"/>
              <a:chExt cx="1767611" cy="497114"/>
            </a:xfrm>
          </p:grpSpPr>
          <p:sp>
            <p:nvSpPr>
              <p:cNvPr name="Freeform 257" id="257"/>
              <p:cNvSpPr/>
              <p:nvPr/>
            </p:nvSpPr>
            <p:spPr>
              <a:xfrm flipH="false" flipV="false" rot="0">
                <a:off x="0" y="0"/>
                <a:ext cx="1767611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767611">
                    <a:moveTo>
                      <a:pt x="0" y="0"/>
                    </a:moveTo>
                    <a:lnTo>
                      <a:pt x="1767611" y="0"/>
                    </a:lnTo>
                    <a:lnTo>
                      <a:pt x="1767611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258" id="258"/>
              <p:cNvSpPr txBox="true"/>
              <p:nvPr/>
            </p:nvSpPr>
            <p:spPr>
              <a:xfrm>
                <a:off x="0" y="-38100"/>
                <a:ext cx="1767611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9" id="259"/>
            <p:cNvSpPr txBox="true"/>
            <p:nvPr/>
          </p:nvSpPr>
          <p:spPr>
            <a:xfrm rot="0">
              <a:off x="5016500" y="627334"/>
              <a:ext cx="1841500" cy="296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0"/>
                </a:lnSpc>
              </a:pPr>
              <a:r>
                <a:rPr lang="en-US" sz="1250" b="true">
                  <a:solidFill>
                    <a:srgbClr val="B9D5E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0.89</a:t>
              </a:r>
            </a:p>
          </p:txBody>
        </p:sp>
        <p:grpSp>
          <p:nvGrpSpPr>
            <p:cNvPr name="Group 260" id="260"/>
            <p:cNvGrpSpPr/>
            <p:nvPr/>
          </p:nvGrpSpPr>
          <p:grpSpPr>
            <a:xfrm rot="0">
              <a:off x="6858000" y="595574"/>
              <a:ext cx="1841500" cy="517894"/>
              <a:chOff x="0" y="0"/>
              <a:chExt cx="1767611" cy="497114"/>
            </a:xfrm>
          </p:grpSpPr>
          <p:sp>
            <p:nvSpPr>
              <p:cNvPr name="Freeform 261" id="261"/>
              <p:cNvSpPr/>
              <p:nvPr/>
            </p:nvSpPr>
            <p:spPr>
              <a:xfrm flipH="false" flipV="false" rot="0">
                <a:off x="0" y="0"/>
                <a:ext cx="1767611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767611">
                    <a:moveTo>
                      <a:pt x="0" y="0"/>
                    </a:moveTo>
                    <a:lnTo>
                      <a:pt x="1767611" y="0"/>
                    </a:lnTo>
                    <a:lnTo>
                      <a:pt x="1767611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262" id="262"/>
              <p:cNvSpPr txBox="true"/>
              <p:nvPr/>
            </p:nvSpPr>
            <p:spPr>
              <a:xfrm>
                <a:off x="0" y="-38100"/>
                <a:ext cx="1767611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3" id="263"/>
            <p:cNvSpPr txBox="true"/>
            <p:nvPr/>
          </p:nvSpPr>
          <p:spPr>
            <a:xfrm rot="0">
              <a:off x="6858000" y="627334"/>
              <a:ext cx="1841500" cy="296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0"/>
                </a:lnSpc>
              </a:pPr>
              <a:r>
                <a:rPr lang="en-US" sz="1250" b="true">
                  <a:solidFill>
                    <a:srgbClr val="B9D5E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0.89</a:t>
              </a:r>
            </a:p>
          </p:txBody>
        </p:sp>
        <p:grpSp>
          <p:nvGrpSpPr>
            <p:cNvPr name="Group 264" id="264"/>
            <p:cNvGrpSpPr/>
            <p:nvPr/>
          </p:nvGrpSpPr>
          <p:grpSpPr>
            <a:xfrm rot="0">
              <a:off x="8699500" y="595574"/>
              <a:ext cx="2044700" cy="517894"/>
              <a:chOff x="0" y="0"/>
              <a:chExt cx="1962658" cy="497114"/>
            </a:xfrm>
          </p:grpSpPr>
          <p:sp>
            <p:nvSpPr>
              <p:cNvPr name="Freeform 265" id="265"/>
              <p:cNvSpPr/>
              <p:nvPr/>
            </p:nvSpPr>
            <p:spPr>
              <a:xfrm flipH="false" flipV="false" rot="0">
                <a:off x="0" y="0"/>
                <a:ext cx="1962658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962658">
                    <a:moveTo>
                      <a:pt x="0" y="0"/>
                    </a:moveTo>
                    <a:lnTo>
                      <a:pt x="1962658" y="0"/>
                    </a:lnTo>
                    <a:lnTo>
                      <a:pt x="1962658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D223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266" id="266"/>
              <p:cNvSpPr txBox="true"/>
              <p:nvPr/>
            </p:nvSpPr>
            <p:spPr>
              <a:xfrm>
                <a:off x="0" y="-38100"/>
                <a:ext cx="1962658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7" id="267"/>
            <p:cNvSpPr txBox="true"/>
            <p:nvPr/>
          </p:nvSpPr>
          <p:spPr>
            <a:xfrm rot="0">
              <a:off x="8699500" y="627334"/>
              <a:ext cx="2044700" cy="296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0"/>
                </a:lnSpc>
              </a:pPr>
              <a:r>
                <a:rPr lang="en-US" sz="1250" b="true">
                  <a:solidFill>
                    <a:srgbClr val="B9D5E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10,000</a:t>
              </a:r>
            </a:p>
          </p:txBody>
        </p:sp>
        <p:grpSp>
          <p:nvGrpSpPr>
            <p:cNvPr name="Group 268" id="268"/>
            <p:cNvGrpSpPr/>
            <p:nvPr/>
          </p:nvGrpSpPr>
          <p:grpSpPr>
            <a:xfrm rot="0">
              <a:off x="0" y="1113468"/>
              <a:ext cx="3175000" cy="517894"/>
              <a:chOff x="0" y="0"/>
              <a:chExt cx="3047605" cy="497114"/>
            </a:xfrm>
          </p:grpSpPr>
          <p:sp>
            <p:nvSpPr>
              <p:cNvPr name="Freeform 269" id="269"/>
              <p:cNvSpPr/>
              <p:nvPr/>
            </p:nvSpPr>
            <p:spPr>
              <a:xfrm flipH="false" flipV="false" rot="0">
                <a:off x="0" y="0"/>
                <a:ext cx="3047605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3047605">
                    <a:moveTo>
                      <a:pt x="0" y="0"/>
                    </a:moveTo>
                    <a:lnTo>
                      <a:pt x="3047605" y="0"/>
                    </a:lnTo>
                    <a:lnTo>
                      <a:pt x="3047605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270" id="270"/>
              <p:cNvSpPr txBox="true"/>
              <p:nvPr/>
            </p:nvSpPr>
            <p:spPr>
              <a:xfrm>
                <a:off x="0" y="-38100"/>
                <a:ext cx="3047605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1" id="271"/>
            <p:cNvSpPr txBox="true"/>
            <p:nvPr/>
          </p:nvSpPr>
          <p:spPr>
            <a:xfrm rot="0">
              <a:off x="177800" y="1145228"/>
              <a:ext cx="2895600" cy="296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50"/>
                </a:lnSpc>
              </a:pPr>
              <a:r>
                <a:rPr lang="en-US" sz="1250" b="true">
                  <a:solidFill>
                    <a:srgbClr val="B9D5E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Weighted avg</a:t>
              </a:r>
            </a:p>
          </p:txBody>
        </p:sp>
        <p:grpSp>
          <p:nvGrpSpPr>
            <p:cNvPr name="Group 272" id="272"/>
            <p:cNvGrpSpPr/>
            <p:nvPr/>
          </p:nvGrpSpPr>
          <p:grpSpPr>
            <a:xfrm rot="0">
              <a:off x="3175000" y="1113468"/>
              <a:ext cx="1841500" cy="517894"/>
              <a:chOff x="0" y="0"/>
              <a:chExt cx="1767611" cy="497114"/>
            </a:xfrm>
          </p:grpSpPr>
          <p:sp>
            <p:nvSpPr>
              <p:cNvPr name="Freeform 273" id="273"/>
              <p:cNvSpPr/>
              <p:nvPr/>
            </p:nvSpPr>
            <p:spPr>
              <a:xfrm flipH="false" flipV="false" rot="0">
                <a:off x="0" y="0"/>
                <a:ext cx="1767611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767611">
                    <a:moveTo>
                      <a:pt x="0" y="0"/>
                    </a:moveTo>
                    <a:lnTo>
                      <a:pt x="1767611" y="0"/>
                    </a:lnTo>
                    <a:lnTo>
                      <a:pt x="1767611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274" id="274"/>
              <p:cNvSpPr txBox="true"/>
              <p:nvPr/>
            </p:nvSpPr>
            <p:spPr>
              <a:xfrm>
                <a:off x="0" y="-38100"/>
                <a:ext cx="1767611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5" id="275"/>
            <p:cNvSpPr txBox="true"/>
            <p:nvPr/>
          </p:nvSpPr>
          <p:spPr>
            <a:xfrm rot="0">
              <a:off x="3175000" y="1145228"/>
              <a:ext cx="1841500" cy="296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0"/>
                </a:lnSpc>
              </a:pPr>
              <a:r>
                <a:rPr lang="en-US" sz="1250" b="true">
                  <a:solidFill>
                    <a:srgbClr val="B9D5E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0.89</a:t>
              </a:r>
            </a:p>
          </p:txBody>
        </p:sp>
        <p:grpSp>
          <p:nvGrpSpPr>
            <p:cNvPr name="Group 276" id="276"/>
            <p:cNvGrpSpPr/>
            <p:nvPr/>
          </p:nvGrpSpPr>
          <p:grpSpPr>
            <a:xfrm rot="0">
              <a:off x="5016500" y="1113468"/>
              <a:ext cx="1841500" cy="517894"/>
              <a:chOff x="0" y="0"/>
              <a:chExt cx="1767611" cy="497114"/>
            </a:xfrm>
          </p:grpSpPr>
          <p:sp>
            <p:nvSpPr>
              <p:cNvPr name="Freeform 277" id="277"/>
              <p:cNvSpPr/>
              <p:nvPr/>
            </p:nvSpPr>
            <p:spPr>
              <a:xfrm flipH="false" flipV="false" rot="0">
                <a:off x="0" y="0"/>
                <a:ext cx="1767611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767611">
                    <a:moveTo>
                      <a:pt x="0" y="0"/>
                    </a:moveTo>
                    <a:lnTo>
                      <a:pt x="1767611" y="0"/>
                    </a:lnTo>
                    <a:lnTo>
                      <a:pt x="1767611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278" id="278"/>
              <p:cNvSpPr txBox="true"/>
              <p:nvPr/>
            </p:nvSpPr>
            <p:spPr>
              <a:xfrm>
                <a:off x="0" y="-38100"/>
                <a:ext cx="1767611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9" id="279"/>
            <p:cNvSpPr txBox="true"/>
            <p:nvPr/>
          </p:nvSpPr>
          <p:spPr>
            <a:xfrm rot="0">
              <a:off x="5016500" y="1145228"/>
              <a:ext cx="1841500" cy="296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0"/>
                </a:lnSpc>
              </a:pPr>
              <a:r>
                <a:rPr lang="en-US" sz="1250" b="true">
                  <a:solidFill>
                    <a:srgbClr val="B9D5E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0.89</a:t>
              </a:r>
            </a:p>
          </p:txBody>
        </p:sp>
        <p:grpSp>
          <p:nvGrpSpPr>
            <p:cNvPr name="Group 280" id="280"/>
            <p:cNvGrpSpPr/>
            <p:nvPr/>
          </p:nvGrpSpPr>
          <p:grpSpPr>
            <a:xfrm rot="0">
              <a:off x="6858000" y="1113468"/>
              <a:ext cx="1841500" cy="517894"/>
              <a:chOff x="0" y="0"/>
              <a:chExt cx="1767611" cy="497114"/>
            </a:xfrm>
          </p:grpSpPr>
          <p:sp>
            <p:nvSpPr>
              <p:cNvPr name="Freeform 281" id="281"/>
              <p:cNvSpPr/>
              <p:nvPr/>
            </p:nvSpPr>
            <p:spPr>
              <a:xfrm flipH="false" flipV="false" rot="0">
                <a:off x="0" y="0"/>
                <a:ext cx="1767611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767611">
                    <a:moveTo>
                      <a:pt x="0" y="0"/>
                    </a:moveTo>
                    <a:lnTo>
                      <a:pt x="1767611" y="0"/>
                    </a:lnTo>
                    <a:lnTo>
                      <a:pt x="1767611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282" id="282"/>
              <p:cNvSpPr txBox="true"/>
              <p:nvPr/>
            </p:nvSpPr>
            <p:spPr>
              <a:xfrm>
                <a:off x="0" y="-38100"/>
                <a:ext cx="1767611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3" id="283"/>
            <p:cNvSpPr txBox="true"/>
            <p:nvPr/>
          </p:nvSpPr>
          <p:spPr>
            <a:xfrm rot="0">
              <a:off x="6858000" y="1145228"/>
              <a:ext cx="1841500" cy="296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0"/>
                </a:lnSpc>
              </a:pPr>
              <a:r>
                <a:rPr lang="en-US" sz="1250" b="true">
                  <a:solidFill>
                    <a:srgbClr val="B9D5E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0.89</a:t>
              </a:r>
            </a:p>
          </p:txBody>
        </p:sp>
        <p:grpSp>
          <p:nvGrpSpPr>
            <p:cNvPr name="Group 284" id="284"/>
            <p:cNvGrpSpPr/>
            <p:nvPr/>
          </p:nvGrpSpPr>
          <p:grpSpPr>
            <a:xfrm rot="0">
              <a:off x="8699500" y="1113468"/>
              <a:ext cx="2044700" cy="517894"/>
              <a:chOff x="0" y="0"/>
              <a:chExt cx="1962658" cy="497114"/>
            </a:xfrm>
          </p:grpSpPr>
          <p:sp>
            <p:nvSpPr>
              <p:cNvPr name="Freeform 285" id="285"/>
              <p:cNvSpPr/>
              <p:nvPr/>
            </p:nvSpPr>
            <p:spPr>
              <a:xfrm flipH="false" flipV="false" rot="0">
                <a:off x="0" y="0"/>
                <a:ext cx="1962658" cy="497114"/>
              </a:xfrm>
              <a:custGeom>
                <a:avLst/>
                <a:gdLst/>
                <a:ahLst/>
                <a:cxnLst/>
                <a:rect r="r" b="b" t="t" l="l"/>
                <a:pathLst>
                  <a:path h="497114" w="1962658">
                    <a:moveTo>
                      <a:pt x="0" y="0"/>
                    </a:moveTo>
                    <a:lnTo>
                      <a:pt x="1962658" y="0"/>
                    </a:lnTo>
                    <a:lnTo>
                      <a:pt x="1962658" y="497114"/>
                    </a:lnTo>
                    <a:lnTo>
                      <a:pt x="0" y="497114"/>
                    </a:lnTo>
                    <a:close/>
                  </a:path>
                </a:pathLst>
              </a:custGeom>
              <a:solidFill>
                <a:srgbClr val="071522"/>
              </a:solidFill>
              <a:ln w="9525" cap="sq">
                <a:solidFill>
                  <a:srgbClr val="476B83"/>
                </a:solidFill>
                <a:prstDash val="solid"/>
                <a:miter/>
              </a:ln>
            </p:spPr>
          </p:sp>
          <p:sp>
            <p:nvSpPr>
              <p:cNvPr name="TextBox 286" id="286"/>
              <p:cNvSpPr txBox="true"/>
              <p:nvPr/>
            </p:nvSpPr>
            <p:spPr>
              <a:xfrm>
                <a:off x="0" y="-38100"/>
                <a:ext cx="1962658" cy="535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7" id="287"/>
            <p:cNvSpPr txBox="true"/>
            <p:nvPr/>
          </p:nvSpPr>
          <p:spPr>
            <a:xfrm rot="0">
              <a:off x="8699500" y="1145228"/>
              <a:ext cx="2044700" cy="296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0"/>
                </a:lnSpc>
              </a:pPr>
              <a:r>
                <a:rPr lang="en-US" sz="1250" b="true">
                  <a:solidFill>
                    <a:srgbClr val="B9D5E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10,000</a:t>
              </a:r>
            </a:p>
          </p:txBody>
        </p:sp>
      </p:grpSp>
      <p:sp>
        <p:nvSpPr>
          <p:cNvPr name="Freeform 288" id="288"/>
          <p:cNvSpPr/>
          <p:nvPr/>
        </p:nvSpPr>
        <p:spPr>
          <a:xfrm flipH="false" flipV="false" rot="0">
            <a:off x="9913206" y="1984981"/>
            <a:ext cx="7641834" cy="7273319"/>
          </a:xfrm>
          <a:custGeom>
            <a:avLst/>
            <a:gdLst/>
            <a:ahLst/>
            <a:cxnLst/>
            <a:rect r="r" b="b" t="t" l="l"/>
            <a:pathLst>
              <a:path h="7273319" w="7641834">
                <a:moveTo>
                  <a:pt x="0" y="0"/>
                </a:moveTo>
                <a:lnTo>
                  <a:pt x="7641834" y="0"/>
                </a:lnTo>
                <a:lnTo>
                  <a:pt x="7641834" y="7273319"/>
                </a:lnTo>
                <a:lnTo>
                  <a:pt x="0" y="72733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89" id="289"/>
          <p:cNvSpPr txBox="true"/>
          <p:nvPr/>
        </p:nvSpPr>
        <p:spPr>
          <a:xfrm rot="0">
            <a:off x="876300" y="1059730"/>
            <a:ext cx="10247402" cy="1215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0"/>
              </a:lnSpc>
            </a:pPr>
            <a:r>
              <a:rPr lang="en-US" sz="5405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Evaluación Final en Datos de Test</a:t>
            </a:r>
          </a:p>
        </p:txBody>
      </p:sp>
      <p:sp>
        <p:nvSpPr>
          <p:cNvPr name="TextBox 290" id="290"/>
          <p:cNvSpPr txBox="true"/>
          <p:nvPr/>
        </p:nvSpPr>
        <p:spPr>
          <a:xfrm rot="0">
            <a:off x="876300" y="2364423"/>
            <a:ext cx="6702911" cy="174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1961" spc="-78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Métricas globales: </a:t>
            </a:r>
          </a:p>
          <a:p>
            <a:pPr algn="l" marL="423393" indent="-211697" lvl="1">
              <a:lnSpc>
                <a:spcPts val="2745"/>
              </a:lnSpc>
              <a:buFont typeface="Arial"/>
              <a:buChar char="•"/>
            </a:pPr>
            <a:r>
              <a:rPr lang="en-US" sz="1961" spc="-78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Accuracy 88.68% - 88.90%</a:t>
            </a:r>
          </a:p>
          <a:p>
            <a:pPr algn="l" marL="423393" indent="-211697" lvl="1">
              <a:lnSpc>
                <a:spcPts val="2745"/>
              </a:lnSpc>
              <a:buFont typeface="Arial"/>
              <a:buChar char="•"/>
            </a:pPr>
            <a:r>
              <a:rPr lang="en-US" sz="1961" spc="-78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Loss 0.3324</a:t>
            </a:r>
          </a:p>
          <a:p>
            <a:pPr algn="l">
              <a:lnSpc>
                <a:spcPts val="2745"/>
              </a:lnSpc>
              <a:spcBef>
                <a:spcPct val="0"/>
              </a:spcBef>
            </a:pPr>
            <a:r>
              <a:rPr lang="en-US" sz="1961" spc="-78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Matriz de Confusión: Destaca alta precisión en calzado/pantalones y confusión lógica en prendas superiores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5314263"/>
            <a:ext cx="5070435" cy="3594041"/>
            <a:chOff x="0" y="0"/>
            <a:chExt cx="1810563" cy="12833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10563" cy="1283369"/>
            </a:xfrm>
            <a:custGeom>
              <a:avLst/>
              <a:gdLst/>
              <a:ahLst/>
              <a:cxnLst/>
              <a:rect r="r" b="b" t="t" l="l"/>
              <a:pathLst>
                <a:path h="1283369" w="1810563">
                  <a:moveTo>
                    <a:pt x="1650543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123349"/>
                  </a:lnTo>
                  <a:lnTo>
                    <a:pt x="160020" y="1283369"/>
                  </a:lnTo>
                  <a:lnTo>
                    <a:pt x="1650543" y="1283369"/>
                  </a:lnTo>
                  <a:lnTo>
                    <a:pt x="1810563" y="1123349"/>
                  </a:lnTo>
                  <a:lnTo>
                    <a:pt x="1810563" y="160020"/>
                  </a:lnTo>
                  <a:lnTo>
                    <a:pt x="1650543" y="0"/>
                  </a:lnTo>
                  <a:close/>
                </a:path>
              </a:pathLst>
            </a:custGeom>
            <a:ln w="9525" cap="sq">
              <a:solidFill>
                <a:srgbClr val="DEF0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63500" y="6350"/>
              <a:ext cx="1683563" cy="1213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08782" y="5316309"/>
            <a:ext cx="5070435" cy="3594041"/>
            <a:chOff x="0" y="0"/>
            <a:chExt cx="1810563" cy="12833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10563" cy="1283369"/>
            </a:xfrm>
            <a:custGeom>
              <a:avLst/>
              <a:gdLst/>
              <a:ahLst/>
              <a:cxnLst/>
              <a:rect r="r" b="b" t="t" l="l"/>
              <a:pathLst>
                <a:path h="1283369" w="1810563">
                  <a:moveTo>
                    <a:pt x="1650543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123349"/>
                  </a:lnTo>
                  <a:lnTo>
                    <a:pt x="160020" y="1283369"/>
                  </a:lnTo>
                  <a:lnTo>
                    <a:pt x="1650543" y="1283369"/>
                  </a:lnTo>
                  <a:lnTo>
                    <a:pt x="1810563" y="1123349"/>
                  </a:lnTo>
                  <a:lnTo>
                    <a:pt x="1810563" y="160020"/>
                  </a:lnTo>
                  <a:lnTo>
                    <a:pt x="1650543" y="0"/>
                  </a:lnTo>
                  <a:close/>
                </a:path>
              </a:pathLst>
            </a:custGeom>
            <a:ln w="9525" cap="sq">
              <a:solidFill>
                <a:srgbClr val="DEF0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63500" y="6350"/>
              <a:ext cx="1683563" cy="1213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88865" y="5316309"/>
            <a:ext cx="5070435" cy="3594041"/>
            <a:chOff x="0" y="0"/>
            <a:chExt cx="1810563" cy="12833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10563" cy="1283369"/>
            </a:xfrm>
            <a:custGeom>
              <a:avLst/>
              <a:gdLst/>
              <a:ahLst/>
              <a:cxnLst/>
              <a:rect r="r" b="b" t="t" l="l"/>
              <a:pathLst>
                <a:path h="1283369" w="1810563">
                  <a:moveTo>
                    <a:pt x="1650543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123349"/>
                  </a:lnTo>
                  <a:lnTo>
                    <a:pt x="160020" y="1283369"/>
                  </a:lnTo>
                  <a:lnTo>
                    <a:pt x="1650543" y="1283369"/>
                  </a:lnTo>
                  <a:lnTo>
                    <a:pt x="1810563" y="1123349"/>
                  </a:lnTo>
                  <a:lnTo>
                    <a:pt x="1810563" y="160020"/>
                  </a:lnTo>
                  <a:lnTo>
                    <a:pt x="1650543" y="0"/>
                  </a:lnTo>
                  <a:close/>
                </a:path>
              </a:pathLst>
            </a:custGeom>
            <a:ln w="9525" cap="sq">
              <a:solidFill>
                <a:srgbClr val="DEF0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63500" y="6350"/>
              <a:ext cx="1683563" cy="1213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99271" y="4286331"/>
            <a:ext cx="3896928" cy="2055864"/>
            <a:chOff x="0" y="0"/>
            <a:chExt cx="2226310" cy="11745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26310" cy="1174513"/>
            </a:xfrm>
            <a:custGeom>
              <a:avLst/>
              <a:gdLst/>
              <a:ahLst/>
              <a:cxnLst/>
              <a:rect r="r" b="b" t="t" l="l"/>
              <a:pathLst>
                <a:path h="1174513" w="2226310">
                  <a:moveTo>
                    <a:pt x="1988185" y="0"/>
                  </a:moveTo>
                  <a:lnTo>
                    <a:pt x="2226310" y="238125"/>
                  </a:lnTo>
                  <a:lnTo>
                    <a:pt x="2226310" y="936388"/>
                  </a:lnTo>
                  <a:lnTo>
                    <a:pt x="1988185" y="1174513"/>
                  </a:lnTo>
                  <a:lnTo>
                    <a:pt x="238125" y="1174513"/>
                  </a:lnTo>
                  <a:lnTo>
                    <a:pt x="0" y="936388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988185" y="0"/>
                  </a:lnTo>
                  <a:close/>
                </a:path>
              </a:pathLst>
            </a:custGeom>
            <a:blipFill>
              <a:blip r:embed="rId3"/>
              <a:stretch>
                <a:fillRect l="0" t="-13241" r="0" b="-1324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079353" y="4286331"/>
            <a:ext cx="3896928" cy="2055864"/>
            <a:chOff x="0" y="0"/>
            <a:chExt cx="2226310" cy="11745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26310" cy="1174513"/>
            </a:xfrm>
            <a:custGeom>
              <a:avLst/>
              <a:gdLst/>
              <a:ahLst/>
              <a:cxnLst/>
              <a:rect r="r" b="b" t="t" l="l"/>
              <a:pathLst>
                <a:path h="1174513" w="2226310">
                  <a:moveTo>
                    <a:pt x="1988185" y="0"/>
                  </a:moveTo>
                  <a:lnTo>
                    <a:pt x="2226310" y="238125"/>
                  </a:lnTo>
                  <a:lnTo>
                    <a:pt x="2226310" y="936388"/>
                  </a:lnTo>
                  <a:lnTo>
                    <a:pt x="1988185" y="1174513"/>
                  </a:lnTo>
                  <a:lnTo>
                    <a:pt x="238125" y="1174513"/>
                  </a:lnTo>
                  <a:lnTo>
                    <a:pt x="0" y="936388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988185" y="0"/>
                  </a:lnTo>
                  <a:close/>
                </a:path>
              </a:pathLst>
            </a:custGeom>
            <a:blipFill>
              <a:blip r:embed="rId4"/>
              <a:stretch>
                <a:fillRect l="0" t="-13241" r="0" b="-1324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658410" y="4286331"/>
            <a:ext cx="3896928" cy="2055864"/>
            <a:chOff x="0" y="0"/>
            <a:chExt cx="2226310" cy="11745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6310" cy="1174513"/>
            </a:xfrm>
            <a:custGeom>
              <a:avLst/>
              <a:gdLst/>
              <a:ahLst/>
              <a:cxnLst/>
              <a:rect r="r" b="b" t="t" l="l"/>
              <a:pathLst>
                <a:path h="1174513" w="2226310">
                  <a:moveTo>
                    <a:pt x="1988185" y="0"/>
                  </a:moveTo>
                  <a:lnTo>
                    <a:pt x="2226310" y="238125"/>
                  </a:lnTo>
                  <a:lnTo>
                    <a:pt x="2226310" y="936388"/>
                  </a:lnTo>
                  <a:lnTo>
                    <a:pt x="1988185" y="1174513"/>
                  </a:lnTo>
                  <a:lnTo>
                    <a:pt x="238125" y="1174513"/>
                  </a:lnTo>
                  <a:lnTo>
                    <a:pt x="0" y="936388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988185" y="0"/>
                  </a:lnTo>
                  <a:close/>
                </a:path>
              </a:pathLst>
            </a:custGeom>
            <a:blipFill>
              <a:blip r:embed="rId5"/>
              <a:stretch>
                <a:fillRect l="0" t="-13144" r="0" b="-13144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28700" y="1652875"/>
            <a:ext cx="14081351" cy="1823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28"/>
              </a:lnSpc>
            </a:pPr>
            <a:r>
              <a:rPr lang="en-US" sz="8129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Conclusiones y Trabajo Futuro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15966" y="7408113"/>
            <a:ext cx="3896928" cy="113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-84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La combinación ReLU + Dropout 0.3 + Adam (lr=0.001) demostró ser eficaz y estable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15966" y="6838854"/>
            <a:ext cx="3896928" cy="43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-96">
                <a:solidFill>
                  <a:srgbClr val="DEF0FF"/>
                </a:solidFill>
                <a:latin typeface="Telegraf Bold"/>
                <a:ea typeface="Telegraf Bold"/>
                <a:cs typeface="Telegraf Bold"/>
                <a:sym typeface="Telegraf Bold"/>
              </a:rPr>
              <a:t>Mejor combinación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196049" y="7409649"/>
            <a:ext cx="3896928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-84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La capa Flatten destruye la estructura espacial de los píxeles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196049" y="6840390"/>
            <a:ext cx="3896928" cy="43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-96">
                <a:solidFill>
                  <a:srgbClr val="DEF0FF"/>
                </a:solidFill>
                <a:latin typeface="Telegraf Bold"/>
                <a:ea typeface="Telegraf Bold"/>
                <a:cs typeface="Telegraf Bold"/>
                <a:sym typeface="Telegraf Bold"/>
              </a:rPr>
              <a:t>Limitación del MLP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75105" y="7292178"/>
            <a:ext cx="3896928" cy="150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-84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Implementar Redes Neuronales Convolucionales (CNN) para extraer características locales (cuellos, botones).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75105" y="6722920"/>
            <a:ext cx="3896928" cy="43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-96">
                <a:solidFill>
                  <a:srgbClr val="DEF0FF"/>
                </a:solidFill>
                <a:latin typeface="Telegraf Bold"/>
                <a:ea typeface="Telegraf Bold"/>
                <a:cs typeface="Telegraf Bold"/>
                <a:sym typeface="Telegraf Bold"/>
              </a:rPr>
              <a:t>Mejoras Futuras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DAHVwiGiw38</dc:identifier>
  <dcterms:modified xsi:type="dcterms:W3CDTF">2011-08-01T06:04:30Z</dcterms:modified>
  <cp:revision>1</cp:revision>
  <dc:title> Deep Learning Presentacion</dc:title>
</cp:coreProperties>
</file>